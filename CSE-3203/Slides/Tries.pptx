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8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8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2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3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8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73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5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8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6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0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50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7A066-93B3-40A4-B430-F44688504B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D44BC-F7CA-4826-A016-E9461C2A5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6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Md. </a:t>
            </a:r>
            <a:r>
              <a:rPr lang="en-US" dirty="0" err="1" smtClean="0"/>
              <a:t>Rezaul</a:t>
            </a:r>
            <a:r>
              <a:rPr lang="en-US" dirty="0" smtClean="0"/>
              <a:t> Karim</a:t>
            </a:r>
          </a:p>
          <a:p>
            <a:r>
              <a:rPr lang="en-US" dirty="0" smtClean="0"/>
              <a:t>CSEDU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80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8616"/>
            <a:ext cx="10515600" cy="547199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 smtClean="0"/>
              <a:t>The string algorithms like KMP involves preprocessing the pattern to speed up the search</a:t>
            </a:r>
          </a:p>
          <a:p>
            <a:pPr>
              <a:lnSpc>
                <a:spcPct val="120000"/>
              </a:lnSpc>
            </a:pPr>
            <a:r>
              <a:rPr lang="en-US" dirty="0" smtClean="0"/>
              <a:t>Complementary algorithm is preprocessing the text.</a:t>
            </a:r>
          </a:p>
          <a:p>
            <a:pPr>
              <a:lnSpc>
                <a:spcPct val="120000"/>
              </a:lnSpc>
            </a:pPr>
            <a:r>
              <a:rPr lang="en-US" dirty="0"/>
              <a:t>This approach is suitable for applications where a series of queries is performed on a fixed </a:t>
            </a:r>
            <a:r>
              <a:rPr lang="en-US" dirty="0" smtClean="0"/>
              <a:t>text</a:t>
            </a:r>
          </a:p>
          <a:p>
            <a:pPr>
              <a:lnSpc>
                <a:spcPct val="120000"/>
              </a:lnSpc>
            </a:pPr>
            <a:r>
              <a:rPr lang="en-US" dirty="0" smtClean="0"/>
              <a:t>The initial </a:t>
            </a:r>
            <a:r>
              <a:rPr lang="en-US" dirty="0"/>
              <a:t>cost of preprocessing the text is compensated by a speedup in each subsequent query (for example, a Web site that offers pattern matching in Shakespeare's </a:t>
            </a:r>
            <a:r>
              <a:rPr lang="en-US" i="1" dirty="0"/>
              <a:t>Hamlet </a:t>
            </a:r>
            <a:r>
              <a:rPr lang="en-US" dirty="0"/>
              <a:t>or a search engine that offers Web pages on the </a:t>
            </a:r>
            <a:r>
              <a:rPr lang="en-US" i="1" dirty="0"/>
              <a:t>Hamlet </a:t>
            </a:r>
            <a:r>
              <a:rPr lang="en-US" dirty="0"/>
              <a:t>topic) </a:t>
            </a:r>
            <a:endParaRPr lang="en-US" dirty="0" smtClean="0"/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0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9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5754"/>
            <a:ext cx="10515600" cy="551277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 </a:t>
            </a:r>
            <a:r>
              <a:rPr lang="en-US" b="1" i="1" dirty="0" err="1"/>
              <a:t>trie</a:t>
            </a:r>
            <a:r>
              <a:rPr lang="en-US" b="1" i="1" dirty="0"/>
              <a:t> </a:t>
            </a:r>
            <a:r>
              <a:rPr lang="en-US" dirty="0"/>
              <a:t>(pronounced "try") is a tree-based data structure for storing strings in order to support fast pattern matching. </a:t>
            </a:r>
            <a:endParaRPr lang="en-US" dirty="0" smtClean="0"/>
          </a:p>
          <a:p>
            <a:pPr>
              <a:lnSpc>
                <a:spcPct val="120000"/>
              </a:lnSpc>
            </a:pPr>
            <a:r>
              <a:rPr lang="en-US" dirty="0"/>
              <a:t>The main application for tries is in information retrieval. </a:t>
            </a:r>
            <a:endParaRPr lang="en-US" dirty="0" smtClean="0"/>
          </a:p>
          <a:p>
            <a:pPr>
              <a:lnSpc>
                <a:spcPct val="120000"/>
              </a:lnSpc>
            </a:pPr>
            <a:r>
              <a:rPr lang="en-US" dirty="0"/>
              <a:t>Indeed, the name "</a:t>
            </a:r>
            <a:r>
              <a:rPr lang="en-US" dirty="0" err="1"/>
              <a:t>trie</a:t>
            </a:r>
            <a:r>
              <a:rPr lang="en-US" dirty="0"/>
              <a:t>" comes from the word "re</a:t>
            </a:r>
            <a:r>
              <a:rPr lang="en-US" i="1" dirty="0"/>
              <a:t>trie</a:t>
            </a:r>
            <a:r>
              <a:rPr lang="en-US" dirty="0"/>
              <a:t>val." </a:t>
            </a:r>
            <a:endParaRPr lang="en-US" dirty="0" smtClean="0"/>
          </a:p>
          <a:p>
            <a:pPr>
              <a:lnSpc>
                <a:spcPct val="120000"/>
              </a:lnSpc>
            </a:pPr>
            <a:r>
              <a:rPr lang="en-US" dirty="0"/>
              <a:t>In an information retrieval application, such as a search for a certain DNA sequence in a genomic database, we are given a collection </a:t>
            </a:r>
            <a:r>
              <a:rPr lang="en-US" i="1" dirty="0"/>
              <a:t>S </a:t>
            </a:r>
            <a:r>
              <a:rPr lang="en-US" dirty="0"/>
              <a:t>of strings, all defined using the same alphabet </a:t>
            </a:r>
            <a:endParaRPr lang="en-US" dirty="0" smtClean="0"/>
          </a:p>
          <a:p>
            <a:pPr>
              <a:lnSpc>
                <a:spcPct val="120000"/>
              </a:lnSpc>
            </a:pPr>
            <a:r>
              <a:rPr lang="en-US" dirty="0"/>
              <a:t>The primary query operations that tries support are pattern matching and </a:t>
            </a:r>
            <a:r>
              <a:rPr lang="en-US" b="1" i="1" dirty="0"/>
              <a:t>prefix matching</a:t>
            </a:r>
            <a:r>
              <a:rPr lang="en-US" dirty="0"/>
              <a:t>. </a:t>
            </a:r>
            <a:endParaRPr lang="en-US" dirty="0" smtClean="0"/>
          </a:p>
          <a:p>
            <a:pPr>
              <a:lnSpc>
                <a:spcPct val="120000"/>
              </a:lnSpc>
            </a:pPr>
            <a:r>
              <a:rPr lang="en-US" dirty="0"/>
              <a:t>The latter operation involves being given a string </a:t>
            </a:r>
            <a:r>
              <a:rPr lang="en-US" i="1" dirty="0"/>
              <a:t>X</a:t>
            </a:r>
            <a:r>
              <a:rPr lang="en-US" dirty="0"/>
              <a:t>, and looking for all the strings in </a:t>
            </a:r>
            <a:r>
              <a:rPr lang="en-US" i="1" dirty="0"/>
              <a:t>S </a:t>
            </a:r>
            <a:r>
              <a:rPr lang="en-US" dirty="0"/>
              <a:t>that contain </a:t>
            </a:r>
            <a:r>
              <a:rPr lang="en-US" i="1" dirty="0"/>
              <a:t>X </a:t>
            </a:r>
            <a:r>
              <a:rPr lang="en-US" dirty="0"/>
              <a:t>as a prefix. </a:t>
            </a:r>
            <a:endParaRPr lang="en-US" dirty="0" smtClean="0"/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9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706"/>
          </a:xfrm>
        </p:spPr>
        <p:txBody>
          <a:bodyPr/>
          <a:lstStyle/>
          <a:p>
            <a:pPr algn="ctr"/>
            <a:r>
              <a:rPr lang="en-US" b="1" dirty="0" smtClean="0"/>
              <a:t>Standard Tries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7832"/>
            <a:ext cx="11163300" cy="5750167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3200" dirty="0"/>
              <a:t>Let </a:t>
            </a:r>
            <a:r>
              <a:rPr lang="en-US" sz="3200" i="1" dirty="0"/>
              <a:t>S </a:t>
            </a:r>
            <a:r>
              <a:rPr lang="en-US" sz="3200" dirty="0"/>
              <a:t>be a set of </a:t>
            </a:r>
            <a:r>
              <a:rPr lang="en-US" sz="3200" i="1" dirty="0"/>
              <a:t>s </a:t>
            </a:r>
            <a:r>
              <a:rPr lang="en-US" sz="3200" dirty="0"/>
              <a:t>strings from alphabet σ such that </a:t>
            </a:r>
            <a:r>
              <a:rPr lang="en-US" sz="3200" dirty="0">
                <a:solidFill>
                  <a:srgbClr val="FF0000"/>
                </a:solidFill>
              </a:rPr>
              <a:t>no string in </a:t>
            </a:r>
            <a:r>
              <a:rPr lang="en-US" sz="3200" i="1" dirty="0">
                <a:solidFill>
                  <a:srgbClr val="FF0000"/>
                </a:solidFill>
              </a:rPr>
              <a:t>S </a:t>
            </a:r>
            <a:r>
              <a:rPr lang="en-US" sz="3200" dirty="0">
                <a:solidFill>
                  <a:srgbClr val="FF0000"/>
                </a:solidFill>
              </a:rPr>
              <a:t>is a prefix of another string</a:t>
            </a:r>
            <a:r>
              <a:rPr lang="en-US" sz="3200" dirty="0"/>
              <a:t>. A </a:t>
            </a:r>
            <a:r>
              <a:rPr lang="en-US" sz="3200" b="1" i="1" dirty="0"/>
              <a:t>standard </a:t>
            </a:r>
            <a:r>
              <a:rPr lang="en-US" sz="3200" b="1" i="1" dirty="0" err="1"/>
              <a:t>trie</a:t>
            </a:r>
            <a:r>
              <a:rPr lang="en-US" sz="3200" b="1" i="1" dirty="0"/>
              <a:t> </a:t>
            </a:r>
            <a:r>
              <a:rPr lang="en-US" sz="3200" dirty="0"/>
              <a:t>for </a:t>
            </a:r>
            <a:r>
              <a:rPr lang="en-US" sz="3200" i="1" dirty="0"/>
              <a:t>S </a:t>
            </a:r>
            <a:r>
              <a:rPr lang="en-US" sz="3200" dirty="0"/>
              <a:t>is an ordered tree </a:t>
            </a:r>
            <a:r>
              <a:rPr lang="en-US" sz="3200" i="1" dirty="0"/>
              <a:t>T </a:t>
            </a:r>
            <a:r>
              <a:rPr lang="en-US" sz="3200" dirty="0"/>
              <a:t>with the following properties </a:t>
            </a:r>
            <a:endParaRPr lang="en-US" sz="3200" dirty="0" smtClean="0"/>
          </a:p>
          <a:p>
            <a:pPr lvl="1">
              <a:lnSpc>
                <a:spcPct val="120000"/>
              </a:lnSpc>
            </a:pPr>
            <a:r>
              <a:rPr lang="en-US" sz="2800" dirty="0"/>
              <a:t>Each </a:t>
            </a:r>
            <a:r>
              <a:rPr lang="en-US" sz="2800" dirty="0">
                <a:solidFill>
                  <a:srgbClr val="FF0000"/>
                </a:solidFill>
              </a:rPr>
              <a:t>node</a:t>
            </a:r>
            <a:r>
              <a:rPr lang="en-US" sz="2800" dirty="0"/>
              <a:t> of </a:t>
            </a:r>
            <a:r>
              <a:rPr lang="en-US" sz="2800" i="1" dirty="0"/>
              <a:t>T</a:t>
            </a:r>
            <a:r>
              <a:rPr lang="en-US" sz="2800" dirty="0"/>
              <a:t>, except the root, is </a:t>
            </a:r>
            <a:r>
              <a:rPr lang="en-US" sz="2800" dirty="0">
                <a:solidFill>
                  <a:srgbClr val="FF0000"/>
                </a:solidFill>
              </a:rPr>
              <a:t>labeled with a character of </a:t>
            </a:r>
            <a:r>
              <a:rPr lang="en-US" sz="2800" b="1" dirty="0"/>
              <a:t>σ</a:t>
            </a:r>
            <a:r>
              <a:rPr lang="en-US" sz="2800" dirty="0"/>
              <a:t>. </a:t>
            </a:r>
            <a:endParaRPr lang="en-US" sz="2800" dirty="0" smtClean="0"/>
          </a:p>
          <a:p>
            <a:pPr lvl="1">
              <a:lnSpc>
                <a:spcPct val="120000"/>
              </a:lnSpc>
            </a:pPr>
            <a:r>
              <a:rPr lang="en-US" sz="2800" dirty="0"/>
              <a:t>The ordering of the children of an internal node of </a:t>
            </a:r>
            <a:r>
              <a:rPr lang="en-US" sz="2800" i="1" dirty="0"/>
              <a:t>T </a:t>
            </a:r>
            <a:r>
              <a:rPr lang="en-US" sz="2800" dirty="0"/>
              <a:t>is determined by a </a:t>
            </a:r>
            <a:r>
              <a:rPr lang="en-US" sz="2800" dirty="0">
                <a:solidFill>
                  <a:srgbClr val="FF0000"/>
                </a:solidFill>
              </a:rPr>
              <a:t>canonical ordering </a:t>
            </a:r>
            <a:r>
              <a:rPr lang="en-US" sz="2800" dirty="0"/>
              <a:t>of the alphabet σ </a:t>
            </a:r>
            <a:endParaRPr lang="en-US" sz="2800" dirty="0" smtClean="0"/>
          </a:p>
          <a:p>
            <a:pPr lvl="1">
              <a:lnSpc>
                <a:spcPct val="120000"/>
              </a:lnSpc>
            </a:pPr>
            <a:r>
              <a:rPr lang="en-US" sz="2800" i="1" dirty="0"/>
              <a:t>T </a:t>
            </a:r>
            <a:r>
              <a:rPr lang="en-US" sz="2800" dirty="0"/>
              <a:t>has </a:t>
            </a:r>
            <a:r>
              <a:rPr lang="en-US" sz="2800" i="1" dirty="0"/>
              <a:t>s </a:t>
            </a:r>
            <a:r>
              <a:rPr lang="en-US" sz="2800" dirty="0"/>
              <a:t>external nodes, each associated with a string of </a:t>
            </a:r>
            <a:r>
              <a:rPr lang="en-US" sz="2800" i="1" dirty="0"/>
              <a:t>S</a:t>
            </a:r>
            <a:r>
              <a:rPr lang="en-US" sz="2800" dirty="0"/>
              <a:t>, such that the concatenation of the labels of the nodes on the path from the root to an external node </a:t>
            </a:r>
            <a:r>
              <a:rPr lang="en-US" sz="2800" i="1" dirty="0"/>
              <a:t>v </a:t>
            </a:r>
            <a:r>
              <a:rPr lang="en-US" sz="2800" dirty="0"/>
              <a:t>of </a:t>
            </a:r>
            <a:r>
              <a:rPr lang="en-US" sz="2800" i="1" dirty="0"/>
              <a:t>T </a:t>
            </a:r>
            <a:r>
              <a:rPr lang="en-US" sz="2800" dirty="0"/>
              <a:t>yields the string of </a:t>
            </a:r>
            <a:r>
              <a:rPr lang="en-US" sz="2800" i="1" dirty="0"/>
              <a:t>S </a:t>
            </a:r>
            <a:r>
              <a:rPr lang="en-US" sz="2800" dirty="0"/>
              <a:t>associated with </a:t>
            </a:r>
            <a:r>
              <a:rPr lang="en-US" sz="2800" i="1" dirty="0"/>
              <a:t>v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lvl="1" indent="0">
              <a:buNone/>
            </a:pPr>
            <a:endParaRPr lang="en-US" b="1" dirty="0" smtClean="0"/>
          </a:p>
          <a:p>
            <a:pPr marL="457200" lvl="1" indent="0">
              <a:buNone/>
            </a:pPr>
            <a:r>
              <a:rPr lang="en-US" b="1" dirty="0" smtClean="0"/>
              <a:t>Create a standard tries bear, bell, bid, bull, buy, sell, stock, stop</a:t>
            </a:r>
          </a:p>
        </p:txBody>
      </p:sp>
    </p:spTree>
    <p:extLst>
      <p:ext uri="{BB962C8B-B14F-4D97-AF65-F5344CB8AC3E}">
        <p14:creationId xmlns:p14="http://schemas.microsoft.com/office/powerpoint/2010/main" val="415436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54893"/>
            <a:ext cx="11872989" cy="537256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465963"/>
            <a:ext cx="108379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Standard </a:t>
            </a:r>
            <a:r>
              <a:rPr lang="en-US" sz="2800" b="1" dirty="0" smtClean="0"/>
              <a:t>Tries of strings </a:t>
            </a:r>
            <a:r>
              <a:rPr lang="en-US" sz="2800" dirty="0" smtClean="0"/>
              <a:t>{bear</a:t>
            </a:r>
            <a:r>
              <a:rPr lang="en-US" sz="2800" dirty="0"/>
              <a:t>, bell, bid, bull, buy, sell, stock, stop}.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1791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internal node </a:t>
            </a:r>
            <a:r>
              <a:rPr lang="en-US" dirty="0"/>
              <a:t>in a standard </a:t>
            </a:r>
            <a:r>
              <a:rPr lang="en-US" dirty="0" err="1"/>
              <a:t>trie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</a:rPr>
              <a:t>T</a:t>
            </a:r>
            <a:r>
              <a:rPr lang="en-US" i="1" dirty="0"/>
              <a:t> </a:t>
            </a:r>
            <a:r>
              <a:rPr lang="en-US" dirty="0"/>
              <a:t>can have anywhere between </a:t>
            </a:r>
            <a:r>
              <a:rPr lang="en-US" dirty="0">
                <a:solidFill>
                  <a:srgbClr val="FF0000"/>
                </a:solidFill>
              </a:rPr>
              <a:t>1 and </a:t>
            </a:r>
            <a:r>
              <a:rPr lang="en-US" i="1" dirty="0">
                <a:solidFill>
                  <a:srgbClr val="FF0000"/>
                </a:solidFill>
              </a:rPr>
              <a:t>d </a:t>
            </a:r>
            <a:r>
              <a:rPr lang="en-US" dirty="0">
                <a:solidFill>
                  <a:srgbClr val="FF0000"/>
                </a:solidFill>
              </a:rPr>
              <a:t>children</a:t>
            </a:r>
            <a:r>
              <a:rPr lang="en-US" dirty="0"/>
              <a:t>, where </a:t>
            </a:r>
            <a:r>
              <a:rPr lang="en-US" i="1" dirty="0"/>
              <a:t>d </a:t>
            </a:r>
            <a:r>
              <a:rPr lang="en-US" dirty="0"/>
              <a:t>is the size of the alphabet. </a:t>
            </a:r>
            <a:endParaRPr lang="en-US" dirty="0" smtClean="0"/>
          </a:p>
          <a:p>
            <a:r>
              <a:rPr lang="en-US" dirty="0"/>
              <a:t>There is </a:t>
            </a:r>
            <a:r>
              <a:rPr lang="en-US" dirty="0">
                <a:solidFill>
                  <a:srgbClr val="FF0000"/>
                </a:solidFill>
              </a:rPr>
              <a:t>an edge going from the root </a:t>
            </a:r>
            <a:r>
              <a:rPr lang="en-US" i="1" dirty="0">
                <a:solidFill>
                  <a:srgbClr val="FF0000"/>
                </a:solidFill>
              </a:rPr>
              <a:t>r </a:t>
            </a:r>
            <a:r>
              <a:rPr lang="en-US" dirty="0">
                <a:solidFill>
                  <a:srgbClr val="FF0000"/>
                </a:solidFill>
              </a:rPr>
              <a:t>to one of its children </a:t>
            </a:r>
            <a:r>
              <a:rPr lang="en-US" dirty="0"/>
              <a:t>for each character that is first in some string in the collection </a:t>
            </a:r>
            <a:r>
              <a:rPr lang="en-US" i="1" dirty="0"/>
              <a:t>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In addition, </a:t>
            </a:r>
            <a:r>
              <a:rPr lang="en-US" dirty="0">
                <a:solidFill>
                  <a:srgbClr val="FF0000"/>
                </a:solidFill>
              </a:rPr>
              <a:t>a path from the root of </a:t>
            </a:r>
            <a:r>
              <a:rPr lang="en-US" i="1" dirty="0">
                <a:solidFill>
                  <a:srgbClr val="FF0000"/>
                </a:solidFill>
              </a:rPr>
              <a:t>T </a:t>
            </a:r>
            <a:r>
              <a:rPr lang="en-US" dirty="0">
                <a:solidFill>
                  <a:srgbClr val="FF0000"/>
                </a:solidFill>
              </a:rPr>
              <a:t>to an internal node </a:t>
            </a:r>
            <a:r>
              <a:rPr lang="en-US" i="1" dirty="0">
                <a:solidFill>
                  <a:srgbClr val="FF0000"/>
                </a:solidFill>
              </a:rPr>
              <a:t>v </a:t>
            </a:r>
            <a:r>
              <a:rPr lang="en-US" dirty="0">
                <a:solidFill>
                  <a:srgbClr val="FF0000"/>
                </a:solidFill>
              </a:rPr>
              <a:t>at depth </a:t>
            </a:r>
            <a:r>
              <a:rPr lang="en-US" i="1" dirty="0" err="1">
                <a:solidFill>
                  <a:srgbClr val="FF0000"/>
                </a:solidFill>
              </a:rPr>
              <a:t>i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corresponds to an </a:t>
            </a:r>
            <a:r>
              <a:rPr lang="en-US" i="1" dirty="0" err="1"/>
              <a:t>i</a:t>
            </a:r>
            <a:r>
              <a:rPr lang="en-US" dirty="0"/>
              <a:t>-character prefix </a:t>
            </a:r>
            <a:r>
              <a:rPr lang="en-US" i="1" dirty="0"/>
              <a:t>X</a:t>
            </a:r>
            <a:r>
              <a:rPr lang="en-US" dirty="0"/>
              <a:t>[0..</a:t>
            </a:r>
            <a:r>
              <a:rPr lang="en-US" i="1" dirty="0"/>
              <a:t>i </a:t>
            </a:r>
            <a:r>
              <a:rPr lang="en-US" dirty="0"/>
              <a:t>− 1] of a string </a:t>
            </a:r>
            <a:r>
              <a:rPr lang="en-US" i="1" dirty="0"/>
              <a:t>X </a:t>
            </a:r>
            <a:r>
              <a:rPr lang="en-US" dirty="0"/>
              <a:t>of </a:t>
            </a:r>
            <a:r>
              <a:rPr lang="en-US" i="1" dirty="0"/>
              <a:t>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>
                <a:solidFill>
                  <a:srgbClr val="FF0000"/>
                </a:solidFill>
              </a:rPr>
              <a:t>each character </a:t>
            </a:r>
            <a:r>
              <a:rPr lang="en-US" i="1" dirty="0">
                <a:solidFill>
                  <a:srgbClr val="FF0000"/>
                </a:solidFill>
              </a:rPr>
              <a:t>c </a:t>
            </a:r>
            <a:r>
              <a:rPr lang="en-US" dirty="0"/>
              <a:t>that can </a:t>
            </a:r>
            <a:r>
              <a:rPr lang="en-US" dirty="0">
                <a:solidFill>
                  <a:srgbClr val="FF0000"/>
                </a:solidFill>
              </a:rPr>
              <a:t>follow the prefix 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[0..</a:t>
            </a:r>
            <a:r>
              <a:rPr lang="en-US" i="1" dirty="0">
                <a:solidFill>
                  <a:srgbClr val="FF0000"/>
                </a:solidFill>
              </a:rPr>
              <a:t>i </a:t>
            </a:r>
            <a:r>
              <a:rPr lang="en-US" dirty="0">
                <a:solidFill>
                  <a:srgbClr val="FF0000"/>
                </a:solidFill>
              </a:rPr>
              <a:t>− 1]</a:t>
            </a:r>
            <a:r>
              <a:rPr lang="en-US" dirty="0"/>
              <a:t> in a string of the set </a:t>
            </a:r>
            <a:r>
              <a:rPr lang="en-US" i="1" dirty="0"/>
              <a:t>S</a:t>
            </a:r>
            <a:r>
              <a:rPr lang="en-US" dirty="0"/>
              <a:t>, there is a child of </a:t>
            </a:r>
            <a:r>
              <a:rPr lang="en-US" i="1" dirty="0">
                <a:solidFill>
                  <a:srgbClr val="FF0000"/>
                </a:solidFill>
              </a:rPr>
              <a:t>v </a:t>
            </a:r>
            <a:r>
              <a:rPr lang="en-US" dirty="0">
                <a:solidFill>
                  <a:srgbClr val="FF0000"/>
                </a:solidFill>
              </a:rPr>
              <a:t>labeled with character </a:t>
            </a:r>
            <a:r>
              <a:rPr lang="en-US" i="1" dirty="0">
                <a:solidFill>
                  <a:srgbClr val="FF0000"/>
                </a:solidFill>
              </a:rPr>
              <a:t>c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 err="1" smtClean="0"/>
              <a:t>trie</a:t>
            </a:r>
            <a:r>
              <a:rPr lang="en-US" dirty="0" smtClean="0"/>
              <a:t> </a:t>
            </a:r>
            <a:r>
              <a:rPr lang="en-US" dirty="0"/>
              <a:t>concisely stores the common prefixes that exist among a set of strings.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91608" y="704741"/>
            <a:ext cx="37455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Standard Tries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4967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4546"/>
            <a:ext cx="10515600" cy="4972417"/>
          </a:xfrm>
        </p:spPr>
        <p:txBody>
          <a:bodyPr>
            <a:normAutofit/>
          </a:bodyPr>
          <a:lstStyle/>
          <a:p>
            <a:r>
              <a:rPr lang="en-US" dirty="0" smtClean="0"/>
              <a:t>Can a </a:t>
            </a:r>
            <a:r>
              <a:rPr lang="en-US" dirty="0" err="1" smtClean="0"/>
              <a:t>trie</a:t>
            </a:r>
            <a:r>
              <a:rPr lang="en-US" dirty="0" smtClean="0"/>
              <a:t> be a binary tree?</a:t>
            </a:r>
          </a:p>
          <a:p>
            <a:pPr lvl="1"/>
            <a:r>
              <a:rPr lang="en-US" sz="2800" dirty="0" smtClean="0"/>
              <a:t>Alphabet set contains only two character</a:t>
            </a:r>
          </a:p>
          <a:p>
            <a:r>
              <a:rPr lang="en-US" dirty="0" smtClean="0"/>
              <a:t>Is the </a:t>
            </a:r>
            <a:r>
              <a:rPr lang="en-US" dirty="0" err="1" smtClean="0"/>
              <a:t>trie</a:t>
            </a:r>
            <a:r>
              <a:rPr lang="en-US" dirty="0" smtClean="0"/>
              <a:t> be a multiway tree?</a:t>
            </a:r>
          </a:p>
          <a:p>
            <a:pPr lvl="1"/>
            <a:r>
              <a:rPr lang="en-US" sz="2800" dirty="0"/>
              <a:t>if there are </a:t>
            </a:r>
            <a:r>
              <a:rPr lang="en-US" sz="2800" i="1" dirty="0"/>
              <a:t>d </a:t>
            </a:r>
            <a:r>
              <a:rPr lang="en-US" sz="2800" dirty="0"/>
              <a:t>characters in the alphabet, then the </a:t>
            </a:r>
            <a:r>
              <a:rPr lang="en-US" sz="2800" dirty="0" err="1"/>
              <a:t>trie</a:t>
            </a:r>
            <a:r>
              <a:rPr lang="en-US" sz="2800" dirty="0"/>
              <a:t> will be a multi-way tree where each internal node has between 1 and </a:t>
            </a:r>
            <a:r>
              <a:rPr lang="en-US" sz="2800" i="1" dirty="0"/>
              <a:t>d </a:t>
            </a:r>
            <a:r>
              <a:rPr lang="en-US" sz="2800" dirty="0"/>
              <a:t>children. </a:t>
            </a:r>
            <a:endParaRPr lang="en-US" sz="2800" dirty="0" smtClean="0"/>
          </a:p>
          <a:p>
            <a:r>
              <a:rPr lang="en-US" dirty="0" smtClean="0"/>
              <a:t>There </a:t>
            </a:r>
            <a:r>
              <a:rPr lang="en-US" dirty="0"/>
              <a:t>are likely to be several internal nodes in a standard </a:t>
            </a:r>
            <a:r>
              <a:rPr lang="en-US" dirty="0" err="1"/>
              <a:t>trie</a:t>
            </a:r>
            <a:r>
              <a:rPr lang="en-US" dirty="0"/>
              <a:t> that have fewer than </a:t>
            </a:r>
            <a:r>
              <a:rPr lang="en-US" i="1" dirty="0"/>
              <a:t>d </a:t>
            </a:r>
            <a:r>
              <a:rPr lang="en-US" dirty="0"/>
              <a:t>children </a:t>
            </a:r>
            <a:endParaRPr lang="en-US" dirty="0" smtClean="0"/>
          </a:p>
          <a:p>
            <a:r>
              <a:rPr lang="en-US" dirty="0"/>
              <a:t>We can implement a </a:t>
            </a:r>
            <a:r>
              <a:rPr lang="en-US" dirty="0" err="1"/>
              <a:t>trie</a:t>
            </a:r>
            <a:r>
              <a:rPr lang="en-US" dirty="0"/>
              <a:t> with a tree storing characters at its nodes.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51766"/>
            <a:ext cx="90267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/>
              <a:t>Standard Tries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6946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62" y="145318"/>
            <a:ext cx="10515600" cy="549275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/>
              <a:t>Proposition on structural Properties of standard </a:t>
            </a:r>
            <a:r>
              <a:rPr lang="en-US" sz="3600" dirty="0" err="1" smtClean="0"/>
              <a:t>Trie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914400"/>
            <a:ext cx="10626969" cy="588205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i="1" dirty="0"/>
              <a:t>A standard </a:t>
            </a:r>
            <a:r>
              <a:rPr lang="en-US" sz="3200" i="1" dirty="0" err="1"/>
              <a:t>trie</a:t>
            </a:r>
            <a:r>
              <a:rPr lang="en-US" sz="3200" i="1" dirty="0"/>
              <a:t> storing a collection </a:t>
            </a:r>
            <a:r>
              <a:rPr lang="en-US" sz="3200" i="1" dirty="0">
                <a:solidFill>
                  <a:srgbClr val="FF0000"/>
                </a:solidFill>
              </a:rPr>
              <a:t>S </a:t>
            </a:r>
            <a:r>
              <a:rPr lang="en-US" sz="3200" i="1" dirty="0"/>
              <a:t>of </a:t>
            </a:r>
            <a:r>
              <a:rPr lang="en-US" sz="3200" i="1" dirty="0">
                <a:solidFill>
                  <a:srgbClr val="FF0000"/>
                </a:solidFill>
              </a:rPr>
              <a:t>s </a:t>
            </a:r>
            <a:r>
              <a:rPr lang="en-US" sz="3200" i="1" dirty="0"/>
              <a:t>strings of total length </a:t>
            </a:r>
            <a:r>
              <a:rPr lang="en-US" sz="3200" i="1" dirty="0">
                <a:solidFill>
                  <a:srgbClr val="FF0000"/>
                </a:solidFill>
              </a:rPr>
              <a:t>n</a:t>
            </a:r>
            <a:r>
              <a:rPr lang="en-US" sz="3200" i="1" dirty="0"/>
              <a:t> from an alphabet of size </a:t>
            </a:r>
            <a:r>
              <a:rPr lang="en-US" sz="3200" i="1" dirty="0">
                <a:solidFill>
                  <a:srgbClr val="FF0000"/>
                </a:solidFill>
              </a:rPr>
              <a:t>d</a:t>
            </a:r>
            <a:r>
              <a:rPr lang="en-US" sz="3200" i="1" dirty="0"/>
              <a:t> has the following properties: </a:t>
            </a:r>
            <a:endParaRPr lang="en-US" sz="32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200" i="1" dirty="0" smtClean="0"/>
              <a:t>Every internal node of </a:t>
            </a:r>
            <a:r>
              <a:rPr lang="en-US" sz="3200" i="1" dirty="0" smtClean="0">
                <a:solidFill>
                  <a:srgbClr val="FF0000"/>
                </a:solidFill>
              </a:rPr>
              <a:t>T</a:t>
            </a:r>
            <a:r>
              <a:rPr lang="en-US" sz="3200" i="1" dirty="0" smtClean="0"/>
              <a:t> has at most </a:t>
            </a:r>
            <a:r>
              <a:rPr lang="en-US" sz="3200" i="1" dirty="0" smtClean="0">
                <a:solidFill>
                  <a:srgbClr val="FF0000"/>
                </a:solidFill>
              </a:rPr>
              <a:t>d</a:t>
            </a:r>
            <a:r>
              <a:rPr lang="en-US" sz="3200" i="1" dirty="0" smtClean="0"/>
              <a:t> children</a:t>
            </a:r>
            <a:r>
              <a:rPr lang="en-US" sz="3200" dirty="0" smtClean="0"/>
              <a:t>.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200" i="1" dirty="0" smtClean="0">
                <a:solidFill>
                  <a:srgbClr val="FF0000"/>
                </a:solidFill>
              </a:rPr>
              <a:t>T</a:t>
            </a:r>
            <a:r>
              <a:rPr lang="en-US" sz="3200" i="1" dirty="0" smtClean="0"/>
              <a:t> </a:t>
            </a:r>
            <a:r>
              <a:rPr lang="en-US" sz="3200" i="1" dirty="0"/>
              <a:t>has </a:t>
            </a:r>
            <a:r>
              <a:rPr lang="en-US" sz="3200" i="1" dirty="0">
                <a:solidFill>
                  <a:srgbClr val="FF0000"/>
                </a:solidFill>
              </a:rPr>
              <a:t>s</a:t>
            </a:r>
            <a:r>
              <a:rPr lang="en-US" sz="3200" i="1" dirty="0"/>
              <a:t> external nodes. </a:t>
            </a:r>
            <a:endParaRPr lang="en-US" sz="3200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200" i="1" dirty="0" smtClean="0"/>
              <a:t>The </a:t>
            </a:r>
            <a:r>
              <a:rPr lang="en-US" sz="3200" i="1" dirty="0"/>
              <a:t>height of </a:t>
            </a:r>
            <a:r>
              <a:rPr lang="en-US" sz="3200" i="1" dirty="0">
                <a:solidFill>
                  <a:srgbClr val="FF0000"/>
                </a:solidFill>
              </a:rPr>
              <a:t>T</a:t>
            </a:r>
            <a:r>
              <a:rPr lang="en-US" sz="3200" i="1" dirty="0"/>
              <a:t> is equal to the </a:t>
            </a:r>
            <a:r>
              <a:rPr lang="en-US" sz="3200" i="1" dirty="0">
                <a:solidFill>
                  <a:srgbClr val="FF0000"/>
                </a:solidFill>
              </a:rPr>
              <a:t>length of the longest string in S</a:t>
            </a:r>
            <a:r>
              <a:rPr lang="en-US" sz="3200" dirty="0"/>
              <a:t>. </a:t>
            </a:r>
            <a:endParaRPr lang="en-US" sz="3200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3200" i="1" dirty="0" smtClean="0"/>
              <a:t>The </a:t>
            </a:r>
            <a:r>
              <a:rPr lang="en-US" sz="3200" i="1" dirty="0"/>
              <a:t>number of nodes of </a:t>
            </a:r>
            <a:r>
              <a:rPr lang="en-US" sz="3200" i="1" dirty="0">
                <a:solidFill>
                  <a:srgbClr val="FF0000"/>
                </a:solidFill>
              </a:rPr>
              <a:t>T</a:t>
            </a:r>
            <a:r>
              <a:rPr lang="en-US" sz="3200" i="1" dirty="0"/>
              <a:t> is </a:t>
            </a:r>
            <a:r>
              <a:rPr lang="en-US" sz="3200" i="1" dirty="0">
                <a:solidFill>
                  <a:srgbClr val="FF0000"/>
                </a:solidFill>
              </a:rPr>
              <a:t>O</a:t>
            </a:r>
            <a:r>
              <a:rPr lang="en-US" sz="3200" dirty="0">
                <a:solidFill>
                  <a:srgbClr val="FF0000"/>
                </a:solidFill>
              </a:rPr>
              <a:t>(</a:t>
            </a:r>
            <a:r>
              <a:rPr lang="en-US" sz="3200" i="1" dirty="0">
                <a:solidFill>
                  <a:srgbClr val="FF0000"/>
                </a:solidFill>
              </a:rPr>
              <a:t>n</a:t>
            </a:r>
            <a:r>
              <a:rPr lang="en-US" sz="3200" dirty="0">
                <a:solidFill>
                  <a:srgbClr val="FF0000"/>
                </a:solidFill>
              </a:rPr>
              <a:t>)</a:t>
            </a:r>
            <a:r>
              <a:rPr lang="en-US" sz="3200" dirty="0"/>
              <a:t>. </a:t>
            </a:r>
            <a:endParaRPr lang="en-US" sz="3200" dirty="0" smtClean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b="1" dirty="0" smtClean="0"/>
              <a:t>The worst case for the number of nodes of a </a:t>
            </a:r>
            <a:r>
              <a:rPr lang="en-US" b="1" dirty="0" err="1" smtClean="0"/>
              <a:t>trie</a:t>
            </a:r>
            <a:r>
              <a:rPr lang="en-US" b="1" dirty="0" smtClean="0"/>
              <a:t> occurs when no two strings share a common nonempty prefix; that is, except for the root, all internal nodes have one child </a:t>
            </a:r>
            <a:endParaRPr lang="en-US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84867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59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Application of </a:t>
            </a:r>
            <a:r>
              <a:rPr lang="en-US" dirty="0" err="1" smtClean="0"/>
              <a:t>Trie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8846"/>
            <a:ext cx="10987454" cy="531055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trie</a:t>
            </a:r>
            <a:r>
              <a:rPr lang="en-US" dirty="0"/>
              <a:t> </a:t>
            </a:r>
            <a:r>
              <a:rPr lang="en-US" i="1" dirty="0"/>
              <a:t>T </a:t>
            </a:r>
            <a:r>
              <a:rPr lang="en-US" dirty="0"/>
              <a:t>for a set </a:t>
            </a:r>
            <a:r>
              <a:rPr lang="en-US" i="1" dirty="0"/>
              <a:t>S </a:t>
            </a:r>
            <a:r>
              <a:rPr lang="en-US" dirty="0"/>
              <a:t>of strings can be used to implement a </a:t>
            </a:r>
            <a:r>
              <a:rPr lang="en-US" dirty="0" smtClean="0"/>
              <a:t>dictionary.</a:t>
            </a:r>
          </a:p>
          <a:p>
            <a:r>
              <a:rPr lang="en-US" dirty="0"/>
              <a:t>we perform a search in </a:t>
            </a:r>
            <a:r>
              <a:rPr lang="en-US" i="1" dirty="0"/>
              <a:t>T </a:t>
            </a:r>
            <a:r>
              <a:rPr lang="en-US" dirty="0"/>
              <a:t>for a string </a:t>
            </a:r>
            <a:r>
              <a:rPr lang="en-US" i="1" dirty="0"/>
              <a:t>X </a:t>
            </a:r>
            <a:r>
              <a:rPr lang="en-US" dirty="0"/>
              <a:t>by tracing down from the root the path indicated by the characters in </a:t>
            </a:r>
            <a:r>
              <a:rPr lang="en-US" i="1" dirty="0"/>
              <a:t>X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If this path can be traced and terminates at an external node, then we know </a:t>
            </a:r>
            <a:r>
              <a:rPr lang="en-US" i="1" dirty="0"/>
              <a:t>X </a:t>
            </a:r>
            <a:r>
              <a:rPr lang="en-US" dirty="0"/>
              <a:t>is in the dictionary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running time of the search for a string of size </a:t>
            </a:r>
            <a:r>
              <a:rPr lang="en-US" i="1" dirty="0"/>
              <a:t>m </a:t>
            </a:r>
            <a:r>
              <a:rPr lang="en-US" dirty="0"/>
              <a:t>is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 err="1"/>
              <a:t>dm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02356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See a bear? Sell stock! Sell a bull? Buy stock! Bid stock! Bid stock! Hear the bell? Stop!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/>
              <a:t>Standard Tries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3006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2" y="811302"/>
            <a:ext cx="12029527" cy="5633460"/>
          </a:xfrm>
          <a:prstGeom prst="rect">
            <a:avLst/>
          </a:prstGeom>
        </p:spPr>
      </p:pic>
      <p:sp>
        <p:nvSpPr>
          <p:cNvPr id="3" name="Title 3"/>
          <p:cNvSpPr txBox="1">
            <a:spLocks/>
          </p:cNvSpPr>
          <p:nvPr/>
        </p:nvSpPr>
        <p:spPr>
          <a:xfrm>
            <a:off x="838200" y="351766"/>
            <a:ext cx="9026769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/>
              <a:t>Standard Tries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36721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pPr algn="ctr"/>
            <a:r>
              <a:rPr lang="en-US" dirty="0" smtClean="0"/>
              <a:t>Compressed </a:t>
            </a:r>
            <a:r>
              <a:rPr lang="en-US" dirty="0" err="1" smtClean="0"/>
              <a:t>Trie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1938"/>
            <a:ext cx="10515600" cy="4735025"/>
          </a:xfrm>
        </p:spPr>
        <p:txBody>
          <a:bodyPr/>
          <a:lstStyle/>
          <a:p>
            <a:r>
              <a:rPr lang="en-US" b="1" dirty="0"/>
              <a:t>A </a:t>
            </a:r>
            <a:r>
              <a:rPr lang="en-US" b="1" i="1" dirty="0"/>
              <a:t>compressed </a:t>
            </a:r>
            <a:r>
              <a:rPr lang="en-US" b="1" i="1" dirty="0" err="1"/>
              <a:t>trie</a:t>
            </a:r>
            <a:r>
              <a:rPr lang="en-US" b="1" i="1" dirty="0"/>
              <a:t> </a:t>
            </a:r>
            <a:r>
              <a:rPr lang="en-US" dirty="0"/>
              <a:t>is similar to a standard </a:t>
            </a:r>
            <a:r>
              <a:rPr lang="en-US" dirty="0" err="1"/>
              <a:t>trie</a:t>
            </a:r>
            <a:r>
              <a:rPr lang="en-US" dirty="0"/>
              <a:t> but it ensures that each internal node in the </a:t>
            </a:r>
            <a:r>
              <a:rPr lang="en-US" dirty="0" err="1"/>
              <a:t>trie</a:t>
            </a:r>
            <a:r>
              <a:rPr lang="en-US" dirty="0"/>
              <a:t> has at least two children. </a:t>
            </a:r>
            <a:endParaRPr lang="en-US" dirty="0" smtClean="0"/>
          </a:p>
          <a:p>
            <a:r>
              <a:rPr lang="en-US" dirty="0"/>
              <a:t>It enforces this rule by compressing chains of single-child nodes into individual edges.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19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5763"/>
            <a:ext cx="11872989" cy="5372566"/>
          </a:xfrm>
          <a:prstGeom prst="rect">
            <a:avLst/>
          </a:prstGeom>
        </p:spPr>
      </p:pic>
      <p:sp>
        <p:nvSpPr>
          <p:cNvPr id="3" name="Title 3"/>
          <p:cNvSpPr txBox="1">
            <a:spLocks/>
          </p:cNvSpPr>
          <p:nvPr/>
        </p:nvSpPr>
        <p:spPr>
          <a:xfrm>
            <a:off x="838200" y="351766"/>
            <a:ext cx="9026769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/>
              <a:t>Standard Tries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3141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33" y="1104698"/>
            <a:ext cx="10303133" cy="4648603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838200" y="39811"/>
            <a:ext cx="10515600" cy="8745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Compressed </a:t>
            </a:r>
            <a:r>
              <a:rPr lang="en-US" dirty="0" err="1" smtClean="0"/>
              <a:t>Trie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5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</a:t>
            </a:r>
            <a:r>
              <a:rPr lang="en-US" i="1" dirty="0"/>
              <a:t>T </a:t>
            </a:r>
            <a:r>
              <a:rPr lang="en-US" dirty="0"/>
              <a:t>be a standard </a:t>
            </a:r>
            <a:r>
              <a:rPr lang="en-US" dirty="0" err="1"/>
              <a:t>trie</a:t>
            </a:r>
            <a:r>
              <a:rPr lang="en-US" dirty="0"/>
              <a:t>. We say that an internal node </a:t>
            </a:r>
            <a:r>
              <a:rPr lang="en-US" i="1" dirty="0"/>
              <a:t>v </a:t>
            </a:r>
            <a:r>
              <a:rPr lang="en-US" dirty="0"/>
              <a:t>of </a:t>
            </a:r>
            <a:r>
              <a:rPr lang="en-US" i="1" dirty="0"/>
              <a:t>T </a:t>
            </a:r>
            <a:r>
              <a:rPr lang="en-US" dirty="0"/>
              <a:t>is </a:t>
            </a:r>
            <a:r>
              <a:rPr lang="en-US" b="1" i="1" dirty="0"/>
              <a:t>redundant </a:t>
            </a:r>
            <a:r>
              <a:rPr lang="en-US" dirty="0"/>
              <a:t>if </a:t>
            </a:r>
            <a:r>
              <a:rPr lang="en-US" i="1" dirty="0"/>
              <a:t>v </a:t>
            </a:r>
            <a:r>
              <a:rPr lang="en-US" dirty="0"/>
              <a:t>has one child and is not the root. </a:t>
            </a:r>
            <a:endParaRPr lang="en-US" dirty="0" smtClean="0"/>
          </a:p>
          <a:p>
            <a:r>
              <a:rPr lang="en-US" dirty="0"/>
              <a:t>Let us also say that a chain of </a:t>
            </a:r>
            <a:r>
              <a:rPr lang="en-US" i="1" dirty="0"/>
              <a:t>k </a:t>
            </a:r>
            <a:r>
              <a:rPr lang="en-US" dirty="0"/>
              <a:t>≥ 2 edges, </a:t>
            </a:r>
            <a:r>
              <a:rPr lang="en-US" dirty="0" smtClean="0"/>
              <a:t>(</a:t>
            </a:r>
            <a:r>
              <a:rPr lang="en-US" i="1" dirty="0"/>
              <a:t>v</a:t>
            </a:r>
            <a:r>
              <a:rPr lang="en-US" baseline="30000" dirty="0"/>
              <a:t>0</a:t>
            </a:r>
            <a:r>
              <a:rPr lang="en-US" dirty="0"/>
              <a:t>,</a:t>
            </a:r>
            <a:r>
              <a:rPr lang="en-US" i="1" dirty="0"/>
              <a:t>v</a:t>
            </a:r>
            <a:r>
              <a:rPr lang="en-US" baseline="30000" dirty="0"/>
              <a:t>1</a:t>
            </a:r>
            <a:r>
              <a:rPr lang="en-US" dirty="0"/>
              <a:t>)(</a:t>
            </a:r>
            <a:r>
              <a:rPr lang="en-US" i="1" dirty="0"/>
              <a:t>v</a:t>
            </a:r>
            <a:r>
              <a:rPr lang="en-US" baseline="30000" dirty="0"/>
              <a:t>1</a:t>
            </a:r>
            <a:r>
              <a:rPr lang="en-US" dirty="0"/>
              <a:t>,</a:t>
            </a:r>
            <a:r>
              <a:rPr lang="en-US" i="1" dirty="0"/>
              <a:t>v</a:t>
            </a:r>
            <a:r>
              <a:rPr lang="en-US" baseline="30000" dirty="0"/>
              <a:t>2</a:t>
            </a:r>
            <a:r>
              <a:rPr lang="en-US" dirty="0"/>
              <a:t>)…(</a:t>
            </a:r>
            <a:r>
              <a:rPr lang="en-US" i="1" dirty="0"/>
              <a:t>v</a:t>
            </a:r>
            <a:r>
              <a:rPr lang="en-US" i="1" baseline="30000" dirty="0"/>
              <a:t>k</a:t>
            </a:r>
            <a:r>
              <a:rPr lang="en-US" baseline="30000" dirty="0"/>
              <a:t>−1</a:t>
            </a:r>
            <a:r>
              <a:rPr lang="en-US" dirty="0"/>
              <a:t>,</a:t>
            </a:r>
            <a:r>
              <a:rPr lang="en-US" i="1" dirty="0"/>
              <a:t>v</a:t>
            </a:r>
            <a:r>
              <a:rPr lang="en-US" i="1" baseline="30000" dirty="0"/>
              <a:t>k</a:t>
            </a:r>
            <a:r>
              <a:rPr lang="en-US" dirty="0"/>
              <a:t>), </a:t>
            </a:r>
          </a:p>
          <a:p>
            <a:pPr marL="0" indent="0">
              <a:buNone/>
            </a:pPr>
            <a:r>
              <a:rPr lang="en-US" dirty="0"/>
              <a:t>is </a:t>
            </a:r>
            <a:r>
              <a:rPr lang="en-US" b="1" i="1" dirty="0"/>
              <a:t>redundant </a:t>
            </a:r>
            <a:r>
              <a:rPr lang="en-US" dirty="0"/>
              <a:t>if: </a:t>
            </a:r>
            <a:endParaRPr lang="en-US" dirty="0" smtClean="0"/>
          </a:p>
          <a:p>
            <a:pPr lvl="1"/>
            <a:r>
              <a:rPr lang="en-US" i="1" dirty="0" smtClean="0"/>
              <a:t>v</a:t>
            </a:r>
            <a:r>
              <a:rPr lang="en-US" i="1" baseline="30000" dirty="0" smtClean="0"/>
              <a:t>i </a:t>
            </a:r>
            <a:r>
              <a:rPr lang="en-US" dirty="0"/>
              <a:t>is redundant for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= 1, …, </a:t>
            </a:r>
            <a:r>
              <a:rPr lang="en-US" i="1" dirty="0"/>
              <a:t>k</a:t>
            </a:r>
            <a:r>
              <a:rPr lang="en-US" dirty="0"/>
              <a:t>−1 1. </a:t>
            </a:r>
            <a:endParaRPr lang="en-US" dirty="0" smtClean="0"/>
          </a:p>
          <a:p>
            <a:pPr lvl="1"/>
            <a:r>
              <a:rPr lang="en-US" i="1" dirty="0" smtClean="0"/>
              <a:t>v</a:t>
            </a:r>
            <a:r>
              <a:rPr lang="en-US" baseline="30000" dirty="0" smtClean="0"/>
              <a:t>0 </a:t>
            </a:r>
            <a:r>
              <a:rPr lang="en-US" dirty="0"/>
              <a:t>and </a:t>
            </a:r>
            <a:r>
              <a:rPr lang="en-US" i="1" dirty="0" err="1"/>
              <a:t>v</a:t>
            </a:r>
            <a:r>
              <a:rPr lang="en-US" i="1" baseline="30000" dirty="0" err="1"/>
              <a:t>k</a:t>
            </a:r>
            <a:r>
              <a:rPr lang="en-US" i="1" baseline="30000" dirty="0"/>
              <a:t> </a:t>
            </a:r>
            <a:r>
              <a:rPr lang="en-US" dirty="0"/>
              <a:t>are not redundant. </a:t>
            </a:r>
          </a:p>
          <a:p>
            <a:r>
              <a:rPr lang="en-US" dirty="0"/>
              <a:t>We can transform </a:t>
            </a:r>
            <a:r>
              <a:rPr lang="en-US" i="1" dirty="0"/>
              <a:t>T </a:t>
            </a:r>
            <a:r>
              <a:rPr lang="en-US" dirty="0"/>
              <a:t>into a compressed </a:t>
            </a:r>
            <a:r>
              <a:rPr lang="en-US" dirty="0" err="1"/>
              <a:t>trie</a:t>
            </a:r>
            <a:r>
              <a:rPr lang="en-US" dirty="0"/>
              <a:t> by replacing each redundant chain (</a:t>
            </a:r>
            <a:r>
              <a:rPr lang="en-US" i="1" dirty="0"/>
              <a:t>v</a:t>
            </a:r>
            <a:r>
              <a:rPr lang="en-US" baseline="30000" dirty="0"/>
              <a:t>0</a:t>
            </a:r>
            <a:r>
              <a:rPr lang="en-US" dirty="0"/>
              <a:t>,</a:t>
            </a:r>
            <a:r>
              <a:rPr lang="en-US" i="1" dirty="0"/>
              <a:t>v</a:t>
            </a:r>
            <a:r>
              <a:rPr lang="en-US" baseline="30000" dirty="0"/>
              <a:t>1</a:t>
            </a:r>
            <a:r>
              <a:rPr lang="en-US" dirty="0"/>
              <a:t>) … (</a:t>
            </a:r>
            <a:r>
              <a:rPr lang="en-US" i="1" dirty="0"/>
              <a:t>v</a:t>
            </a:r>
            <a:r>
              <a:rPr lang="en-US" i="1" baseline="30000" dirty="0"/>
              <a:t>k</a:t>
            </a:r>
            <a:r>
              <a:rPr lang="en-US" baseline="30000" dirty="0"/>
              <a:t>−1</a:t>
            </a:r>
            <a:r>
              <a:rPr lang="en-US" dirty="0"/>
              <a:t>,</a:t>
            </a:r>
            <a:r>
              <a:rPr lang="en-US" i="1" dirty="0"/>
              <a:t>v</a:t>
            </a:r>
            <a:r>
              <a:rPr lang="en-US" i="1" baseline="30000" dirty="0"/>
              <a:t>k</a:t>
            </a:r>
            <a:r>
              <a:rPr lang="en-US" dirty="0"/>
              <a:t>) of </a:t>
            </a:r>
            <a:r>
              <a:rPr lang="en-US" i="1" dirty="0"/>
              <a:t>k </a:t>
            </a:r>
            <a:r>
              <a:rPr lang="en-US" dirty="0"/>
              <a:t>≥ 2 edges into a single edge (</a:t>
            </a:r>
            <a:r>
              <a:rPr lang="en-US" i="1" dirty="0"/>
              <a:t>v</a:t>
            </a:r>
            <a:r>
              <a:rPr lang="en-US" baseline="30000" dirty="0"/>
              <a:t>0</a:t>
            </a:r>
            <a:r>
              <a:rPr lang="en-US" dirty="0"/>
              <a:t>, </a:t>
            </a:r>
            <a:r>
              <a:rPr lang="en-US" i="1" dirty="0" err="1"/>
              <a:t>v</a:t>
            </a:r>
            <a:r>
              <a:rPr lang="en-US" i="1" baseline="30000" dirty="0" err="1"/>
              <a:t>k</a:t>
            </a:r>
            <a:r>
              <a:rPr lang="en-US" dirty="0"/>
              <a:t>), relabeling </a:t>
            </a:r>
            <a:r>
              <a:rPr lang="en-US" i="1" dirty="0" err="1"/>
              <a:t>v</a:t>
            </a:r>
            <a:r>
              <a:rPr lang="en-US" i="1" baseline="30000" dirty="0" err="1"/>
              <a:t>k</a:t>
            </a:r>
            <a:r>
              <a:rPr lang="en-US" i="1" baseline="30000" dirty="0"/>
              <a:t> </a:t>
            </a:r>
            <a:r>
              <a:rPr lang="en-US" dirty="0"/>
              <a:t> </a:t>
            </a:r>
            <a:r>
              <a:rPr lang="en-US" dirty="0" smtClean="0"/>
              <a:t>with the concatenation </a:t>
            </a:r>
            <a:r>
              <a:rPr lang="en-US" dirty="0"/>
              <a:t>of the labels of nodes </a:t>
            </a:r>
            <a:r>
              <a:rPr lang="en-US" i="1" dirty="0"/>
              <a:t>v</a:t>
            </a:r>
            <a:r>
              <a:rPr lang="en-US" baseline="30000" dirty="0"/>
              <a:t>1</a:t>
            </a:r>
            <a:r>
              <a:rPr lang="en-US" dirty="0"/>
              <a:t>,…, </a:t>
            </a:r>
            <a:r>
              <a:rPr lang="en-US" i="1" dirty="0" err="1"/>
              <a:t>v</a:t>
            </a:r>
            <a:r>
              <a:rPr lang="en-US" i="1" baseline="30000" dirty="0" err="1"/>
              <a:t>k</a:t>
            </a:r>
            <a:r>
              <a:rPr lang="en-US" dirty="0"/>
              <a:t>. 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Compressed </a:t>
            </a:r>
            <a:r>
              <a:rPr lang="en-US" dirty="0" err="1" smtClean="0"/>
              <a:t>Trie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97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8170"/>
            <a:ext cx="11216054" cy="5565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A compressed </a:t>
            </a:r>
            <a:r>
              <a:rPr lang="en-US" i="1" dirty="0" err="1"/>
              <a:t>trie</a:t>
            </a:r>
            <a:r>
              <a:rPr lang="en-US" i="1" dirty="0"/>
              <a:t> storing a collection S of s strings from an alphabet of size d has the following properties: 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800" i="1" dirty="0" smtClean="0"/>
              <a:t>Every </a:t>
            </a:r>
            <a:r>
              <a:rPr lang="en-US" sz="2800" i="1" dirty="0"/>
              <a:t>internal node of T has at least two children and most d children </a:t>
            </a:r>
            <a:endParaRPr lang="en-US" sz="2800" i="1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800" i="1" dirty="0"/>
              <a:t> T has s external </a:t>
            </a:r>
            <a:r>
              <a:rPr lang="en-US" sz="2800" i="1" dirty="0" smtClean="0"/>
              <a:t>nodes.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800" i="1" dirty="0"/>
              <a:t>The number of nodes of T is O</a:t>
            </a:r>
            <a:r>
              <a:rPr lang="en-US" sz="2800" dirty="0"/>
              <a:t>(</a:t>
            </a:r>
            <a:r>
              <a:rPr lang="en-US" sz="2800" i="1" dirty="0"/>
              <a:t>s</a:t>
            </a:r>
            <a:r>
              <a:rPr lang="en-US" sz="2800" dirty="0"/>
              <a:t>). </a:t>
            </a:r>
            <a:endParaRPr lang="en-US" sz="2800" dirty="0" smtClean="0"/>
          </a:p>
          <a:p>
            <a:pPr lvl="1">
              <a:buFont typeface="Wingdings" panose="05000000000000000000" pitchFamily="2" charset="2"/>
              <a:buChar char="v"/>
            </a:pPr>
            <a:endParaRPr 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 smtClean="0"/>
              <a:t>A compressed </a:t>
            </a:r>
            <a:r>
              <a:rPr lang="en-US" dirty="0" err="1"/>
              <a:t>trie</a:t>
            </a:r>
            <a:r>
              <a:rPr lang="en-US" dirty="0"/>
              <a:t> is truly advantageous only when it is used as an </a:t>
            </a:r>
            <a:r>
              <a:rPr lang="en-US" b="1" i="1" dirty="0"/>
              <a:t>auxiliary </a:t>
            </a:r>
            <a:r>
              <a:rPr lang="en-US" dirty="0"/>
              <a:t>index structure over a collection of strings already stored in a primary structure, and is not required to actually store all the characters of the strings in the collection. 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745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Compressed </a:t>
            </a:r>
            <a:r>
              <a:rPr lang="en-US" dirty="0" err="1" smtClean="0"/>
              <a:t>Trie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35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93" y="158262"/>
            <a:ext cx="10387545" cy="285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6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93" y="158262"/>
            <a:ext cx="10387545" cy="28505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41" y="3008858"/>
            <a:ext cx="11370025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8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1090</Words>
  <Application>Microsoft Office PowerPoint</Application>
  <PresentationFormat>Widescreen</PresentationFormat>
  <Paragraphs>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Tries</vt:lpstr>
      <vt:lpstr>PowerPoint Presentation</vt:lpstr>
      <vt:lpstr>PowerPoint Presentation</vt:lpstr>
      <vt:lpstr>Standard Tries</vt:lpstr>
      <vt:lpstr>PowerPoint Presentation</vt:lpstr>
      <vt:lpstr>Standard Tries</vt:lpstr>
      <vt:lpstr>Standard Tries</vt:lpstr>
      <vt:lpstr>Proposition on structural Properties of standard Trie</vt:lpstr>
      <vt:lpstr>Application of Trie</vt:lpstr>
      <vt:lpstr>Standard Tries</vt:lpstr>
      <vt:lpstr>PowerPoint Presentation</vt:lpstr>
      <vt:lpstr>Compressed Trie</vt:lpstr>
      <vt:lpstr>PowerPoint Presentation</vt:lpstr>
      <vt:lpstr>PowerPoint Presentation</vt:lpstr>
      <vt:lpstr>Compressed Trie</vt:lpstr>
      <vt:lpstr>Compressed Trie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15</cp:revision>
  <dcterms:created xsi:type="dcterms:W3CDTF">2024-10-07T00:04:53Z</dcterms:created>
  <dcterms:modified xsi:type="dcterms:W3CDTF">2026-04-06T17:10:46Z</dcterms:modified>
</cp:coreProperties>
</file>