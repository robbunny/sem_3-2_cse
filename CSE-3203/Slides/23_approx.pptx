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6"/>
  </p:notesMasterIdLst>
  <p:handoutMasterIdLst>
    <p:handoutMasterId r:id="rId27"/>
  </p:handoutMasterIdLst>
  <p:sldIdLst>
    <p:sldId id="258" r:id="rId2"/>
    <p:sldId id="259" r:id="rId3"/>
    <p:sldId id="260" r:id="rId4"/>
    <p:sldId id="261" r:id="rId5"/>
    <p:sldId id="299" r:id="rId6"/>
    <p:sldId id="262" r:id="rId7"/>
    <p:sldId id="300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302" r:id="rId18"/>
    <p:sldId id="273" r:id="rId19"/>
    <p:sldId id="283" r:id="rId20"/>
    <p:sldId id="306" r:id="rId21"/>
    <p:sldId id="337" r:id="rId22"/>
    <p:sldId id="324" r:id="rId23"/>
    <p:sldId id="307" r:id="rId24"/>
    <p:sldId id="336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A5002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335" autoAdjust="0"/>
    <p:restoredTop sz="94694" autoAdjust="0"/>
  </p:normalViewPr>
  <p:slideViewPr>
    <p:cSldViewPr>
      <p:cViewPr varScale="1">
        <p:scale>
          <a:sx n="65" d="100"/>
          <a:sy n="65" d="100"/>
        </p:scale>
        <p:origin x="-129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1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F6238D9-3C7E-4D78-B935-87085DF4FC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06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6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E2BE0F1-30B6-4692-A276-4079144BA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08CB59-F2C2-4894-933A-A35B64A4AA0E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E303D8-F67F-41A9-B2F5-86C9C51D1505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Problem: Why O(V+E)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2209FE-FCC3-467A-A441-0B837CD70C72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Problem: Can’t understand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44809-F9D0-414C-A837-1C5AEAB119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EDF20F-84FE-475D-87E1-B1437CEE8E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99D29-463D-4600-B780-1ABA81A088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B16205-7EEE-47BF-A7FC-46DB5BA7C6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39D19-6A27-4A5C-8B20-CC0D884E27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39360-2BB1-4776-A4F1-61EE7CE83D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CE728D-5950-4CBC-A44D-679F5AC8AC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0A372B-E2B9-4991-A757-ADC8B2BE3F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07EAE9-F26F-4CA1-8425-B9A961117A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2F146-0EC1-4DE7-983D-5D59B454D7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95F98-4E15-4E5F-92DF-A7F41FFF6B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27298-715F-4599-9526-0C439538AA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65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65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F9C88D43-02FC-475E-B099-B8825E1F5B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4104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650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0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0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7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0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0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1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7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1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1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1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1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1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7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1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1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1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1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7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2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2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2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2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2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7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2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2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2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2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7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2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7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3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3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3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7" cy="7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3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7" cy="7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3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3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7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9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Approximation Algorithms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Analysis of Algorithms</a:t>
            </a:r>
          </a:p>
          <a:p>
            <a:pPr eaLnBrk="1" hangingPunct="1"/>
            <a:endParaRPr 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Motivation: Getting around NP-completeness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Exponential time may be acceptable for small inputs </a:t>
            </a:r>
            <a:r>
              <a:rPr lang="en-US" smtClean="0">
                <a:solidFill>
                  <a:srgbClr val="0000FF"/>
                </a:solidFill>
              </a:rPr>
              <a:t>[Brute Force]</a:t>
            </a:r>
          </a:p>
          <a:p>
            <a:pPr eaLnBrk="1" hangingPunct="1"/>
            <a:r>
              <a:rPr lang="en-US" smtClean="0"/>
              <a:t>Isolate special cases that can run in polynomial time </a:t>
            </a:r>
            <a:r>
              <a:rPr lang="en-US" smtClean="0">
                <a:solidFill>
                  <a:srgbClr val="0000FF"/>
                </a:solidFill>
              </a:rPr>
              <a:t>[DC, GRDY, DP]</a:t>
            </a:r>
          </a:p>
          <a:p>
            <a:pPr eaLnBrk="1" hangingPunct="1"/>
            <a:r>
              <a:rPr lang="en-US" smtClean="0"/>
              <a:t>Near-optimal solutions may be acceptable </a:t>
            </a:r>
            <a:r>
              <a:rPr lang="en-US" smtClean="0">
                <a:solidFill>
                  <a:srgbClr val="FF0000"/>
                </a:solidFill>
              </a:rPr>
              <a:t>[Approximation Algorithms]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Performance Ratios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C* is the cost of the </a:t>
            </a:r>
            <a:r>
              <a:rPr lang="en-US" smtClean="0">
                <a:solidFill>
                  <a:srgbClr val="0000FF"/>
                </a:solidFill>
              </a:rPr>
              <a:t>optimal solution</a:t>
            </a:r>
          </a:p>
          <a:p>
            <a:pPr eaLnBrk="1" hangingPunct="1"/>
            <a:r>
              <a:rPr lang="en-US" smtClean="0"/>
              <a:t>C is the cost of the solution produced by an </a:t>
            </a:r>
            <a:r>
              <a:rPr lang="en-US" smtClean="0">
                <a:solidFill>
                  <a:srgbClr val="0000FF"/>
                </a:solidFill>
              </a:rPr>
              <a:t>approximation algorithm</a:t>
            </a:r>
          </a:p>
          <a:p>
            <a:pPr eaLnBrk="1" hangingPunct="1"/>
            <a:r>
              <a:rPr lang="en-US" smtClean="0"/>
              <a:t>An algorithm has an </a:t>
            </a:r>
            <a:r>
              <a:rPr lang="en-US" smtClean="0">
                <a:solidFill>
                  <a:srgbClr val="0000FF"/>
                </a:solidFill>
              </a:rPr>
              <a:t>approximation ratio</a:t>
            </a:r>
            <a:r>
              <a:rPr lang="en-US" smtClean="0"/>
              <a:t> of </a:t>
            </a:r>
            <a:r>
              <a:rPr lang="el-GR" smtClean="0">
                <a:cs typeface="Arial" charset="0"/>
              </a:rPr>
              <a:t>ρ</a:t>
            </a:r>
            <a:r>
              <a:rPr lang="en-US" smtClean="0">
                <a:cs typeface="Arial" charset="0"/>
              </a:rPr>
              <a:t>(n) if for an input of size n, </a:t>
            </a:r>
            <a:r>
              <a:rPr lang="en-US" smtClean="0">
                <a:solidFill>
                  <a:srgbClr val="FF0000"/>
                </a:solidFill>
                <a:cs typeface="Arial" charset="0"/>
              </a:rPr>
              <a:t>C is within a factor of C*</a:t>
            </a:r>
            <a:endParaRPr lang="el-GR" smtClean="0">
              <a:solidFill>
                <a:srgbClr val="FF0000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Performance Ratios [cont.]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>
                <a:solidFill>
                  <a:srgbClr val="0000FF"/>
                </a:solidFill>
                <a:cs typeface="Arial" charset="0"/>
              </a:rPr>
              <a:t>Maximization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cs typeface="Arial" charset="0"/>
              </a:rPr>
              <a:t>0 &lt; C &lt;= C*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cs typeface="Arial" charset="0"/>
              </a:rPr>
              <a:t>C* / C factor by which the cost of the optimal solution is larger than the cost of the approximate solution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solidFill>
                  <a:srgbClr val="0000FF"/>
                </a:solidFill>
                <a:cs typeface="Arial" charset="0"/>
              </a:rPr>
              <a:t>Minimization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cs typeface="Arial" charset="0"/>
              </a:rPr>
              <a:t>0 &lt; C* &lt;= C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cs typeface="Arial" charset="0"/>
              </a:rPr>
              <a:t>C / C* factor by which the cost of the approximate solution is larger than the cost of the optimal solution</a:t>
            </a:r>
            <a:endParaRPr lang="el-GR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Definitions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8150" y="1600200"/>
            <a:ext cx="8705850" cy="4333875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sz="2100" i="1" smtClean="0">
                <a:solidFill>
                  <a:srgbClr val="0000FF"/>
                </a:solidFill>
              </a:rPr>
              <a:t>Approximation Algorithm</a:t>
            </a:r>
            <a:endParaRPr lang="en-US" sz="2100" smtClean="0">
              <a:solidFill>
                <a:srgbClr val="0000FF"/>
              </a:solidFill>
            </a:endParaRPr>
          </a:p>
          <a:p>
            <a:pPr lvl="1" eaLnBrk="1" hangingPunct="1">
              <a:lnSpc>
                <a:spcPct val="85000"/>
              </a:lnSpc>
            </a:pPr>
            <a:r>
              <a:rPr lang="en-US" sz="2000" smtClean="0"/>
              <a:t>produces “near-optimal” solution</a:t>
            </a:r>
          </a:p>
          <a:p>
            <a:pPr eaLnBrk="1" hangingPunct="1">
              <a:lnSpc>
                <a:spcPct val="85000"/>
              </a:lnSpc>
            </a:pPr>
            <a:r>
              <a:rPr lang="en-US" sz="2100" smtClean="0"/>
              <a:t>Algorithm has </a:t>
            </a:r>
            <a:r>
              <a:rPr lang="en-US" sz="2100" i="1" smtClean="0">
                <a:solidFill>
                  <a:srgbClr val="0000FF"/>
                </a:solidFill>
              </a:rPr>
              <a:t>approximation ratio</a:t>
            </a:r>
            <a:r>
              <a:rPr lang="en-US" sz="2100" smtClean="0"/>
              <a:t> </a:t>
            </a:r>
            <a:r>
              <a:rPr lang="en-US" sz="2100" i="1" smtClean="0">
                <a:latin typeface="Symbol" pitchFamily="18" charset="2"/>
              </a:rPr>
              <a:t>r</a:t>
            </a:r>
            <a:r>
              <a:rPr lang="en-US" sz="2100" i="1" smtClean="0"/>
              <a:t>(n)</a:t>
            </a:r>
            <a:r>
              <a:rPr lang="en-US" sz="2100" smtClean="0"/>
              <a:t> if:</a:t>
            </a:r>
          </a:p>
          <a:p>
            <a:pPr eaLnBrk="1" hangingPunct="1">
              <a:lnSpc>
                <a:spcPct val="85000"/>
              </a:lnSpc>
            </a:pPr>
            <a:endParaRPr lang="en-US" sz="2100" smtClean="0"/>
          </a:p>
          <a:p>
            <a:pPr eaLnBrk="1" hangingPunct="1">
              <a:lnSpc>
                <a:spcPct val="85000"/>
              </a:lnSpc>
            </a:pPr>
            <a:endParaRPr lang="en-US" sz="2100" i="1" smtClean="0">
              <a:solidFill>
                <a:srgbClr val="00FF00"/>
              </a:solidFill>
            </a:endParaRPr>
          </a:p>
          <a:p>
            <a:pPr eaLnBrk="1" hangingPunct="1">
              <a:lnSpc>
                <a:spcPct val="85000"/>
              </a:lnSpc>
            </a:pPr>
            <a:endParaRPr lang="en-US" sz="2100" i="1" smtClean="0">
              <a:solidFill>
                <a:srgbClr val="00FF00"/>
              </a:solidFill>
            </a:endParaRPr>
          </a:p>
          <a:p>
            <a:pPr eaLnBrk="1" hangingPunct="1">
              <a:lnSpc>
                <a:spcPct val="85000"/>
              </a:lnSpc>
            </a:pPr>
            <a:r>
              <a:rPr lang="en-US" sz="2100" i="1" smtClean="0">
                <a:solidFill>
                  <a:srgbClr val="0000FF"/>
                </a:solidFill>
              </a:rPr>
              <a:t>Approximation Scheme</a:t>
            </a:r>
          </a:p>
          <a:p>
            <a:pPr lvl="1" eaLnBrk="1" hangingPunct="1">
              <a:lnSpc>
                <a:spcPct val="85000"/>
              </a:lnSpc>
            </a:pPr>
            <a:r>
              <a:rPr lang="en-US" sz="2000" smtClean="0"/>
              <a:t>(1+</a:t>
            </a:r>
            <a:r>
              <a:rPr lang="en-US" sz="2000" smtClean="0">
                <a:latin typeface="Symbol" pitchFamily="18" charset="2"/>
              </a:rPr>
              <a:t>e</a:t>
            </a:r>
            <a:r>
              <a:rPr lang="en-US" sz="2000" smtClean="0"/>
              <a:t>)-approximation algorithm for fixed </a:t>
            </a:r>
            <a:r>
              <a:rPr lang="en-US" sz="2000" smtClean="0">
                <a:latin typeface="Symbol" pitchFamily="18" charset="2"/>
              </a:rPr>
              <a:t>e</a:t>
            </a:r>
            <a:endParaRPr lang="en-US" sz="2000" smtClean="0"/>
          </a:p>
          <a:p>
            <a:pPr lvl="2" eaLnBrk="1" hangingPunct="1">
              <a:lnSpc>
                <a:spcPct val="85000"/>
              </a:lnSpc>
            </a:pPr>
            <a:r>
              <a:rPr lang="en-US" sz="1800" smtClean="0">
                <a:latin typeface="Symbol" pitchFamily="18" charset="2"/>
              </a:rPr>
              <a:t>e </a:t>
            </a:r>
            <a:r>
              <a:rPr lang="en-US" sz="1800" smtClean="0"/>
              <a:t>&gt; 0 is an input</a:t>
            </a:r>
            <a:endParaRPr lang="en-US" sz="1800" i="1" smtClean="0"/>
          </a:p>
          <a:p>
            <a:pPr lvl="1" eaLnBrk="1" hangingPunct="1">
              <a:lnSpc>
                <a:spcPct val="85000"/>
              </a:lnSpc>
            </a:pPr>
            <a:r>
              <a:rPr lang="en-US" sz="2000" i="1" smtClean="0">
                <a:solidFill>
                  <a:srgbClr val="0000FF"/>
                </a:solidFill>
              </a:rPr>
              <a:t>Polynomial-Time</a:t>
            </a:r>
            <a:r>
              <a:rPr lang="en-US" sz="2000" smtClean="0">
                <a:solidFill>
                  <a:srgbClr val="0000FF"/>
                </a:solidFill>
              </a:rPr>
              <a:t> </a:t>
            </a:r>
            <a:r>
              <a:rPr lang="en-US" sz="2000" i="1" smtClean="0">
                <a:solidFill>
                  <a:srgbClr val="0000FF"/>
                </a:solidFill>
              </a:rPr>
              <a:t>Approximation Scheme</a:t>
            </a:r>
          </a:p>
          <a:p>
            <a:pPr lvl="2" eaLnBrk="1" hangingPunct="1">
              <a:lnSpc>
                <a:spcPct val="85000"/>
              </a:lnSpc>
            </a:pPr>
            <a:r>
              <a:rPr lang="en-US" sz="1800" smtClean="0"/>
              <a:t>time is polynomial in </a:t>
            </a:r>
            <a:r>
              <a:rPr lang="en-US" sz="1800" i="1" smtClean="0"/>
              <a:t>n</a:t>
            </a: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1295400" y="2743200"/>
          <a:ext cx="2190750" cy="674688"/>
        </p:xfrm>
        <a:graphic>
          <a:graphicData uri="http://schemas.openxmlformats.org/presentationml/2006/ole">
            <p:oleObj spid="_x0000_s1026" name="Equation" r:id="rId3" imgW="1396800" imgH="431640" progId="Equation.3">
              <p:embed/>
            </p:oleObj>
          </a:graphicData>
        </a:graphic>
      </p:graphicFrame>
      <p:grpSp>
        <p:nvGrpSpPr>
          <p:cNvPr id="1029" name="Group 6"/>
          <p:cNvGrpSpPr>
            <a:grpSpLocks/>
          </p:cNvGrpSpPr>
          <p:nvPr/>
        </p:nvGrpSpPr>
        <p:grpSpPr bwMode="auto">
          <a:xfrm>
            <a:off x="3886200" y="2743200"/>
            <a:ext cx="5019675" cy="985838"/>
            <a:chOff x="2457" y="1782"/>
            <a:chExt cx="3162" cy="621"/>
          </a:xfrm>
        </p:grpSpPr>
        <p:sp>
          <p:nvSpPr>
            <p:cNvPr id="74759" name="Text Box 7"/>
            <p:cNvSpPr txBox="1">
              <a:spLocks noChangeArrowheads="1"/>
            </p:cNvSpPr>
            <p:nvPr/>
          </p:nvSpPr>
          <p:spPr bwMode="auto">
            <a:xfrm>
              <a:off x="2457" y="1782"/>
              <a:ext cx="2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i="1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</a:t>
              </a:r>
              <a:r>
                <a:rPr lang="en-US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= cost of algorithm’s solution</a:t>
              </a:r>
            </a:p>
          </p:txBody>
        </p:sp>
        <p:sp>
          <p:nvSpPr>
            <p:cNvPr id="74760" name="Text Box 8"/>
            <p:cNvSpPr txBox="1">
              <a:spLocks noChangeArrowheads="1"/>
            </p:cNvSpPr>
            <p:nvPr/>
          </p:nvSpPr>
          <p:spPr bwMode="auto">
            <a:xfrm>
              <a:off x="2463" y="1995"/>
              <a:ext cx="22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i="1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C*</a:t>
              </a:r>
              <a:r>
                <a:rPr lang="en-US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= cost of </a:t>
              </a:r>
              <a:r>
                <a:rPr lang="en-US" u="sng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optimal</a:t>
              </a:r>
              <a:r>
                <a:rPr lang="en-US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solution</a:t>
              </a:r>
            </a:p>
          </p:txBody>
        </p:sp>
        <p:sp>
          <p:nvSpPr>
            <p:cNvPr id="74761" name="Text Box 9"/>
            <p:cNvSpPr txBox="1">
              <a:spLocks noChangeArrowheads="1"/>
            </p:cNvSpPr>
            <p:nvPr/>
          </p:nvSpPr>
          <p:spPr bwMode="auto">
            <a:xfrm>
              <a:off x="2487" y="2172"/>
              <a:ext cx="31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i="1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</a:t>
              </a:r>
              <a:r>
                <a:rPr lang="en-US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= number of inputs = size of instance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How do approximations algorithms work?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Exploit the nature of the problem</a:t>
            </a:r>
          </a:p>
          <a:p>
            <a:pPr eaLnBrk="1" hangingPunct="1"/>
            <a:r>
              <a:rPr lang="en-US" smtClean="0"/>
              <a:t>Use greedy techniques</a:t>
            </a:r>
          </a:p>
          <a:p>
            <a:pPr eaLnBrk="1" hangingPunct="1"/>
            <a:r>
              <a:rPr lang="en-US" smtClean="0"/>
              <a:t>Use linear programming</a:t>
            </a:r>
          </a:p>
          <a:p>
            <a:pPr eaLnBrk="1" hangingPunct="1"/>
            <a:r>
              <a:rPr lang="en-US" smtClean="0"/>
              <a:t>Use dynamic programming</a:t>
            </a:r>
          </a:p>
          <a:p>
            <a:pPr eaLnBrk="1" hangingPunct="1"/>
            <a:r>
              <a:rPr lang="en-US" smtClean="0"/>
              <a:t>Use random assignments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pPr eaLnBrk="1" hangingPunct="1"/>
            <a:r>
              <a:rPr lang="en-US" smtClean="0"/>
              <a:t>Overview 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458200" cy="45862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900" smtClean="0">
                <a:solidFill>
                  <a:srgbClr val="FF0000"/>
                </a:solidFill>
              </a:rPr>
              <a:t>VERTEX-COVER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Polynomial-time 2-approximation algorithm</a:t>
            </a:r>
          </a:p>
          <a:p>
            <a:pPr eaLnBrk="1" hangingPunct="1">
              <a:lnSpc>
                <a:spcPct val="90000"/>
              </a:lnSpc>
            </a:pPr>
            <a:r>
              <a:rPr lang="en-US" sz="1900" smtClean="0">
                <a:solidFill>
                  <a:srgbClr val="FF0000"/>
                </a:solidFill>
              </a:rPr>
              <a:t>TSP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rgbClr val="0000FF"/>
                </a:solidFill>
              </a:rPr>
              <a:t>TSP with triangle inequality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100" smtClean="0"/>
              <a:t>Polynomial-time 2-approximation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rgbClr val="0000FF"/>
                </a:solidFill>
              </a:rPr>
              <a:t>TSP without triangle inequality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100" smtClean="0"/>
              <a:t>Negative result on polynomial-time </a:t>
            </a:r>
            <a:r>
              <a:rPr lang="en-US" sz="2100" smtClean="0">
                <a:latin typeface="Symbol" pitchFamily="18" charset="2"/>
              </a:rPr>
              <a:t>r</a:t>
            </a:r>
            <a:r>
              <a:rPr lang="en-US" sz="2100" smtClean="0"/>
              <a:t>(n)-approximation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vertex-cover problem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Let G=(V,E) be an undirected graph</a:t>
            </a:r>
          </a:p>
          <a:p>
            <a:pPr eaLnBrk="1" hangingPunct="1"/>
            <a:r>
              <a:rPr lang="en-US" smtClean="0"/>
              <a:t>A vertex cover </a:t>
            </a:r>
          </a:p>
          <a:p>
            <a:pPr lvl="1" eaLnBrk="1" hangingPunct="1"/>
            <a:r>
              <a:rPr lang="en-US" smtClean="0"/>
              <a:t>subset V’ of V </a:t>
            </a:r>
          </a:p>
          <a:p>
            <a:pPr lvl="1" eaLnBrk="1" hangingPunct="1"/>
            <a:r>
              <a:rPr lang="en-US" smtClean="0"/>
              <a:t>such that if (u,v) is an edge of G, then either u belongs in V’ or v belongs in V’ (or both)</a:t>
            </a:r>
          </a:p>
          <a:p>
            <a:pPr eaLnBrk="1" hangingPunct="1"/>
            <a:r>
              <a:rPr lang="en-US" smtClean="0"/>
              <a:t>The </a:t>
            </a:r>
            <a:r>
              <a:rPr lang="en-US" smtClean="0">
                <a:solidFill>
                  <a:srgbClr val="0000FF"/>
                </a:solidFill>
              </a:rPr>
              <a:t>size of a vertex cover</a:t>
            </a:r>
            <a:r>
              <a:rPr lang="en-US" smtClean="0"/>
              <a:t> is the number of vertices in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vertex-cover problem [cont.]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vertex-cover problem is to find a vertex cover of </a:t>
            </a:r>
            <a:r>
              <a:rPr lang="en-US" smtClean="0">
                <a:solidFill>
                  <a:srgbClr val="FF0000"/>
                </a:solidFill>
              </a:rPr>
              <a:t>minimum size</a:t>
            </a:r>
          </a:p>
          <a:p>
            <a:pPr eaLnBrk="1" hangingPunct="1"/>
            <a:r>
              <a:rPr lang="en-US" smtClean="0"/>
              <a:t>Such a vertex-cover is called an </a:t>
            </a:r>
            <a:r>
              <a:rPr lang="en-US" smtClean="0">
                <a:solidFill>
                  <a:srgbClr val="0000FF"/>
                </a:solidFill>
              </a:rPr>
              <a:t>optimal vertex cover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b="1" u="sng" smtClean="0">
                <a:solidFill>
                  <a:srgbClr val="FF0000"/>
                </a:solidFill>
              </a:rPr>
              <a:t>This problem is NP-complete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3" name="Oval 47"/>
          <p:cNvSpPr>
            <a:spLocks noChangeArrowheads="1"/>
          </p:cNvSpPr>
          <p:nvPr/>
        </p:nvSpPr>
        <p:spPr bwMode="auto">
          <a:xfrm>
            <a:off x="3200400" y="41148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42" name="Oval 46"/>
          <p:cNvSpPr>
            <a:spLocks noChangeArrowheads="1"/>
          </p:cNvSpPr>
          <p:nvPr/>
        </p:nvSpPr>
        <p:spPr bwMode="auto">
          <a:xfrm>
            <a:off x="5181600" y="24384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41" name="Oval 45"/>
          <p:cNvSpPr>
            <a:spLocks noChangeArrowheads="1"/>
          </p:cNvSpPr>
          <p:nvPr/>
        </p:nvSpPr>
        <p:spPr bwMode="auto">
          <a:xfrm>
            <a:off x="1066800" y="24384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Consider the graph:</a:t>
            </a:r>
          </a:p>
        </p:txBody>
      </p:sp>
      <p:sp>
        <p:nvSpPr>
          <p:cNvPr id="14342" name="Oval 8"/>
          <p:cNvSpPr>
            <a:spLocks noChangeArrowheads="1"/>
          </p:cNvSpPr>
          <p:nvPr/>
        </p:nvSpPr>
        <p:spPr bwMode="auto">
          <a:xfrm>
            <a:off x="1219200" y="25908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Text Box 9"/>
          <p:cNvSpPr txBox="1">
            <a:spLocks noChangeArrowheads="1"/>
          </p:cNvSpPr>
          <p:nvPr/>
        </p:nvSpPr>
        <p:spPr bwMode="auto">
          <a:xfrm>
            <a:off x="1295400" y="26670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b</a:t>
            </a:r>
          </a:p>
        </p:txBody>
      </p:sp>
      <p:sp>
        <p:nvSpPr>
          <p:cNvPr id="14344" name="Oval 22"/>
          <p:cNvSpPr>
            <a:spLocks noChangeArrowheads="1"/>
          </p:cNvSpPr>
          <p:nvPr/>
        </p:nvSpPr>
        <p:spPr bwMode="auto">
          <a:xfrm>
            <a:off x="12954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Text Box 23"/>
          <p:cNvSpPr txBox="1">
            <a:spLocks noChangeArrowheads="1"/>
          </p:cNvSpPr>
          <p:nvPr/>
        </p:nvSpPr>
        <p:spPr bwMode="auto">
          <a:xfrm>
            <a:off x="1371600" y="4343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a</a:t>
            </a:r>
          </a:p>
        </p:txBody>
      </p:sp>
      <p:sp>
        <p:nvSpPr>
          <p:cNvPr id="14346" name="Oval 24"/>
          <p:cNvSpPr>
            <a:spLocks noChangeArrowheads="1"/>
          </p:cNvSpPr>
          <p:nvPr/>
        </p:nvSpPr>
        <p:spPr bwMode="auto">
          <a:xfrm>
            <a:off x="3276600" y="25908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ext Box 25"/>
          <p:cNvSpPr txBox="1">
            <a:spLocks noChangeArrowheads="1"/>
          </p:cNvSpPr>
          <p:nvPr/>
        </p:nvSpPr>
        <p:spPr bwMode="auto">
          <a:xfrm>
            <a:off x="3352800" y="26670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c</a:t>
            </a:r>
          </a:p>
        </p:txBody>
      </p:sp>
      <p:sp>
        <p:nvSpPr>
          <p:cNvPr id="14348" name="Oval 26"/>
          <p:cNvSpPr>
            <a:spLocks noChangeArrowheads="1"/>
          </p:cNvSpPr>
          <p:nvPr/>
        </p:nvSpPr>
        <p:spPr bwMode="auto">
          <a:xfrm>
            <a:off x="33528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9" name="Text Box 27"/>
          <p:cNvSpPr txBox="1">
            <a:spLocks noChangeArrowheads="1"/>
          </p:cNvSpPr>
          <p:nvPr/>
        </p:nvSpPr>
        <p:spPr bwMode="auto">
          <a:xfrm>
            <a:off x="3429000" y="4343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e</a:t>
            </a:r>
          </a:p>
        </p:txBody>
      </p:sp>
      <p:sp>
        <p:nvSpPr>
          <p:cNvPr id="14350" name="Oval 28"/>
          <p:cNvSpPr>
            <a:spLocks noChangeArrowheads="1"/>
          </p:cNvSpPr>
          <p:nvPr/>
        </p:nvSpPr>
        <p:spPr bwMode="auto">
          <a:xfrm>
            <a:off x="5334000" y="25908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1" name="Text Box 29"/>
          <p:cNvSpPr txBox="1">
            <a:spLocks noChangeArrowheads="1"/>
          </p:cNvSpPr>
          <p:nvPr/>
        </p:nvSpPr>
        <p:spPr bwMode="auto">
          <a:xfrm>
            <a:off x="5410200" y="26670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d</a:t>
            </a:r>
          </a:p>
        </p:txBody>
      </p:sp>
      <p:sp>
        <p:nvSpPr>
          <p:cNvPr id="14352" name="Oval 30"/>
          <p:cNvSpPr>
            <a:spLocks noChangeArrowheads="1"/>
          </p:cNvSpPr>
          <p:nvPr/>
        </p:nvSpPr>
        <p:spPr bwMode="auto">
          <a:xfrm>
            <a:off x="54102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3" name="Text Box 31"/>
          <p:cNvSpPr txBox="1">
            <a:spLocks noChangeArrowheads="1"/>
          </p:cNvSpPr>
          <p:nvPr/>
        </p:nvSpPr>
        <p:spPr bwMode="auto">
          <a:xfrm>
            <a:off x="5486400" y="4343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f</a:t>
            </a:r>
          </a:p>
        </p:txBody>
      </p:sp>
      <p:sp>
        <p:nvSpPr>
          <p:cNvPr id="14354" name="Oval 34"/>
          <p:cNvSpPr>
            <a:spLocks noChangeArrowheads="1"/>
          </p:cNvSpPr>
          <p:nvPr/>
        </p:nvSpPr>
        <p:spPr bwMode="auto">
          <a:xfrm>
            <a:off x="74676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5" name="Text Box 35"/>
          <p:cNvSpPr txBox="1">
            <a:spLocks noChangeArrowheads="1"/>
          </p:cNvSpPr>
          <p:nvPr/>
        </p:nvSpPr>
        <p:spPr bwMode="auto">
          <a:xfrm>
            <a:off x="7543800" y="4343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g</a:t>
            </a:r>
          </a:p>
        </p:txBody>
      </p:sp>
      <p:sp>
        <p:nvSpPr>
          <p:cNvPr id="14356" name="Line 36"/>
          <p:cNvSpPr>
            <a:spLocks noChangeShapeType="1"/>
          </p:cNvSpPr>
          <p:nvPr/>
        </p:nvSpPr>
        <p:spPr bwMode="auto">
          <a:xfrm>
            <a:off x="1524000" y="3124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7" name="Line 37"/>
          <p:cNvSpPr>
            <a:spLocks noChangeShapeType="1"/>
          </p:cNvSpPr>
          <p:nvPr/>
        </p:nvSpPr>
        <p:spPr bwMode="auto">
          <a:xfrm>
            <a:off x="3581400" y="3124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8" name="Line 38"/>
          <p:cNvSpPr>
            <a:spLocks noChangeShapeType="1"/>
          </p:cNvSpPr>
          <p:nvPr/>
        </p:nvSpPr>
        <p:spPr bwMode="auto">
          <a:xfrm>
            <a:off x="5638800" y="3124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59" name="Line 39"/>
          <p:cNvSpPr>
            <a:spLocks noChangeShapeType="1"/>
          </p:cNvSpPr>
          <p:nvPr/>
        </p:nvSpPr>
        <p:spPr bwMode="auto">
          <a:xfrm>
            <a:off x="1752600" y="2819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0" name="Line 40"/>
          <p:cNvSpPr>
            <a:spLocks noChangeShapeType="1"/>
          </p:cNvSpPr>
          <p:nvPr/>
        </p:nvSpPr>
        <p:spPr bwMode="auto">
          <a:xfrm>
            <a:off x="3810000" y="2819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1" name="Line 41"/>
          <p:cNvSpPr>
            <a:spLocks noChangeShapeType="1"/>
          </p:cNvSpPr>
          <p:nvPr/>
        </p:nvSpPr>
        <p:spPr bwMode="auto">
          <a:xfrm>
            <a:off x="3886200" y="4495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2" name="Line 43"/>
          <p:cNvSpPr>
            <a:spLocks noChangeShapeType="1"/>
          </p:cNvSpPr>
          <p:nvPr/>
        </p:nvSpPr>
        <p:spPr bwMode="auto">
          <a:xfrm flipV="1">
            <a:off x="3810000" y="3048000"/>
            <a:ext cx="16002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63" name="Line 44"/>
          <p:cNvSpPr>
            <a:spLocks noChangeShapeType="1"/>
          </p:cNvSpPr>
          <p:nvPr/>
        </p:nvSpPr>
        <p:spPr bwMode="auto">
          <a:xfrm>
            <a:off x="5791200" y="3048000"/>
            <a:ext cx="1676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45" name="Text Box 49"/>
          <p:cNvSpPr txBox="1">
            <a:spLocks noChangeArrowheads="1"/>
          </p:cNvSpPr>
          <p:nvPr/>
        </p:nvSpPr>
        <p:spPr bwMode="auto">
          <a:xfrm>
            <a:off x="1066800" y="5130800"/>
            <a:ext cx="7170738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/>
              <a:t>By inspection, optimal vertex cover is {b,d,e}</a:t>
            </a:r>
          </a:p>
          <a:p>
            <a:pPr eaLnBrk="0" hangingPunct="0"/>
            <a:endParaRPr lang="en-US" sz="2800"/>
          </a:p>
          <a:p>
            <a:pPr eaLnBrk="0" hangingPunct="0"/>
            <a:r>
              <a:rPr lang="en-US" sz="2800"/>
              <a:t>C* = size of optimal solution =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43" grpId="0" animBg="1"/>
      <p:bldP spid="29742" grpId="0" animBg="1"/>
      <p:bldP spid="29741" grpId="0" animBg="1"/>
      <p:bldP spid="297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Approx-Vertex-Cover (G)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600" smtClean="0"/>
              <a:t>C </a:t>
            </a:r>
            <a:r>
              <a:rPr lang="en-US" sz="2600" smtClean="0">
                <a:sym typeface="Wingdings" pitchFamily="2" charset="2"/>
              </a:rPr>
              <a:t> NULL	</a:t>
            </a:r>
            <a:r>
              <a:rPr lang="en-US" sz="1800" smtClean="0">
                <a:solidFill>
                  <a:schemeClr val="accent2"/>
                </a:solidFill>
                <a:sym typeface="Wingdings" pitchFamily="2" charset="2"/>
              </a:rPr>
              <a:t>//C contains results of vertex cover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600" smtClean="0">
                <a:sym typeface="Wingdings" pitchFamily="2" charset="2"/>
              </a:rPr>
              <a:t>E’  E[G]	</a:t>
            </a:r>
            <a:r>
              <a:rPr lang="en-US" sz="1800" smtClean="0">
                <a:solidFill>
                  <a:schemeClr val="accent2"/>
                </a:solidFill>
                <a:sym typeface="Wingdings" pitchFamily="2" charset="2"/>
              </a:rPr>
              <a:t>//Initially all edges are stored here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600" smtClean="0">
                <a:sym typeface="Wingdings" pitchFamily="2" charset="2"/>
              </a:rPr>
              <a:t>while E’ != NULL </a:t>
            </a:r>
            <a:r>
              <a:rPr lang="en-US" sz="1800" smtClean="0">
                <a:solidFill>
                  <a:schemeClr val="accent2"/>
                </a:solidFill>
                <a:sym typeface="Wingdings" pitchFamily="2" charset="2"/>
              </a:rPr>
              <a:t>//all edges that are not considered yet</a:t>
            </a:r>
            <a:endParaRPr lang="en-US" sz="2600" smtClean="0">
              <a:sym typeface="Wingdings" pitchFamily="2" charset="2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600" smtClean="0">
                <a:sym typeface="Wingdings" pitchFamily="2" charset="2"/>
              </a:rPr>
              <a:t>     do let (u,v) be an edge of E’ </a:t>
            </a:r>
            <a:r>
              <a:rPr lang="en-US" sz="1800" smtClean="0">
                <a:solidFill>
                  <a:schemeClr val="accent2"/>
                </a:solidFill>
                <a:sym typeface="Wingdings" pitchFamily="2" charset="2"/>
              </a:rPr>
              <a:t>//select an edge from E’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600" smtClean="0">
                <a:sym typeface="Wingdings" pitchFamily="2" charset="2"/>
              </a:rPr>
              <a:t>           C  C </a:t>
            </a:r>
            <a:r>
              <a:rPr lang="en-US" sz="2600" smtClean="0">
                <a:cs typeface="Arial" charset="0"/>
                <a:sym typeface="Wingdings" pitchFamily="2" charset="2"/>
              </a:rPr>
              <a:t>U {u,v}	 </a:t>
            </a:r>
            <a:r>
              <a:rPr lang="en-US" sz="1800" smtClean="0">
                <a:solidFill>
                  <a:schemeClr val="accent2"/>
                </a:solidFill>
                <a:sym typeface="Wingdings" pitchFamily="2" charset="2"/>
              </a:rPr>
              <a:t>//add vertices to C of the selected edge</a:t>
            </a:r>
            <a:endParaRPr lang="en-US" sz="2600" smtClean="0">
              <a:cs typeface="Arial" charset="0"/>
              <a:sym typeface="Wingdings" pitchFamily="2" charset="2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2600" smtClean="0">
                <a:cs typeface="Arial" charset="0"/>
                <a:sym typeface="Wingdings" pitchFamily="2" charset="2"/>
              </a:rPr>
              <a:t>           remove from E’ all edges incident on u or v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smtClean="0">
                <a:solidFill>
                  <a:schemeClr val="accent2"/>
                </a:solidFill>
                <a:sym typeface="Wingdings" pitchFamily="2" charset="2"/>
              </a:rPr>
              <a:t>				//delete all edges related to the vertices “u” and “v”</a:t>
            </a:r>
            <a:endParaRPr lang="en-US" sz="2600" smtClean="0">
              <a:cs typeface="Arial" charset="0"/>
              <a:sym typeface="Wingdings" pitchFamily="2" charset="2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 startAt="7"/>
            </a:pPr>
            <a:r>
              <a:rPr lang="en-US" sz="2600" smtClean="0">
                <a:cs typeface="Arial" charset="0"/>
                <a:sym typeface="Wingdings" pitchFamily="2" charset="2"/>
              </a:rPr>
              <a:t>return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0" name="Oval 72"/>
          <p:cNvSpPr>
            <a:spLocks noChangeArrowheads="1"/>
          </p:cNvSpPr>
          <p:nvPr/>
        </p:nvSpPr>
        <p:spPr bwMode="auto">
          <a:xfrm>
            <a:off x="5257800" y="38862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39" name="Oval 71"/>
          <p:cNvSpPr>
            <a:spLocks noChangeArrowheads="1"/>
          </p:cNvSpPr>
          <p:nvPr/>
        </p:nvSpPr>
        <p:spPr bwMode="auto">
          <a:xfrm>
            <a:off x="5181600" y="22098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38" name="Oval 70"/>
          <p:cNvSpPr>
            <a:spLocks noChangeArrowheads="1"/>
          </p:cNvSpPr>
          <p:nvPr/>
        </p:nvSpPr>
        <p:spPr bwMode="auto">
          <a:xfrm>
            <a:off x="3200400" y="38862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37" name="Oval 69"/>
          <p:cNvSpPr>
            <a:spLocks noChangeArrowheads="1"/>
          </p:cNvSpPr>
          <p:nvPr/>
        </p:nvSpPr>
        <p:spPr bwMode="auto">
          <a:xfrm>
            <a:off x="3124200" y="22098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36" name="Oval 68"/>
          <p:cNvSpPr>
            <a:spLocks noChangeArrowheads="1"/>
          </p:cNvSpPr>
          <p:nvPr/>
        </p:nvSpPr>
        <p:spPr bwMode="auto">
          <a:xfrm>
            <a:off x="1066800" y="22098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34" name="Oval 66"/>
          <p:cNvSpPr>
            <a:spLocks noChangeArrowheads="1"/>
          </p:cNvSpPr>
          <p:nvPr/>
        </p:nvSpPr>
        <p:spPr bwMode="auto">
          <a:xfrm>
            <a:off x="1143000" y="38862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Rectangle 33"/>
          <p:cNvSpPr>
            <a:spLocks noChangeArrowheads="1"/>
          </p:cNvSpPr>
          <p:nvPr/>
        </p:nvSpPr>
        <p:spPr bwMode="auto">
          <a:xfrm>
            <a:off x="990600" y="4724400"/>
            <a:ext cx="71628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Back to our graph:</a:t>
            </a:r>
          </a:p>
        </p:txBody>
      </p:sp>
      <p:sp>
        <p:nvSpPr>
          <p:cNvPr id="16394" name="Oval 6"/>
          <p:cNvSpPr>
            <a:spLocks noChangeArrowheads="1"/>
          </p:cNvSpPr>
          <p:nvPr/>
        </p:nvSpPr>
        <p:spPr bwMode="auto">
          <a:xfrm>
            <a:off x="1219200" y="2362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Text Box 7"/>
          <p:cNvSpPr txBox="1">
            <a:spLocks noChangeArrowheads="1"/>
          </p:cNvSpPr>
          <p:nvPr/>
        </p:nvSpPr>
        <p:spPr bwMode="auto">
          <a:xfrm>
            <a:off x="1295400" y="2438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b</a:t>
            </a:r>
          </a:p>
        </p:txBody>
      </p:sp>
      <p:sp>
        <p:nvSpPr>
          <p:cNvPr id="16396" name="Oval 8"/>
          <p:cNvSpPr>
            <a:spLocks noChangeArrowheads="1"/>
          </p:cNvSpPr>
          <p:nvPr/>
        </p:nvSpPr>
        <p:spPr bwMode="auto">
          <a:xfrm>
            <a:off x="1295400" y="4038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Text Box 9"/>
          <p:cNvSpPr txBox="1">
            <a:spLocks noChangeArrowheads="1"/>
          </p:cNvSpPr>
          <p:nvPr/>
        </p:nvSpPr>
        <p:spPr bwMode="auto">
          <a:xfrm>
            <a:off x="1371600" y="4114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a</a:t>
            </a:r>
          </a:p>
        </p:txBody>
      </p:sp>
      <p:sp>
        <p:nvSpPr>
          <p:cNvPr id="16398" name="Oval 10"/>
          <p:cNvSpPr>
            <a:spLocks noChangeArrowheads="1"/>
          </p:cNvSpPr>
          <p:nvPr/>
        </p:nvSpPr>
        <p:spPr bwMode="auto">
          <a:xfrm>
            <a:off x="3276600" y="2362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9" name="Text Box 11"/>
          <p:cNvSpPr txBox="1">
            <a:spLocks noChangeArrowheads="1"/>
          </p:cNvSpPr>
          <p:nvPr/>
        </p:nvSpPr>
        <p:spPr bwMode="auto">
          <a:xfrm>
            <a:off x="3352800" y="2438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c</a:t>
            </a:r>
          </a:p>
        </p:txBody>
      </p:sp>
      <p:sp>
        <p:nvSpPr>
          <p:cNvPr id="16400" name="Oval 12"/>
          <p:cNvSpPr>
            <a:spLocks noChangeArrowheads="1"/>
          </p:cNvSpPr>
          <p:nvPr/>
        </p:nvSpPr>
        <p:spPr bwMode="auto">
          <a:xfrm>
            <a:off x="3352800" y="4038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Text Box 13"/>
          <p:cNvSpPr txBox="1">
            <a:spLocks noChangeArrowheads="1"/>
          </p:cNvSpPr>
          <p:nvPr/>
        </p:nvSpPr>
        <p:spPr bwMode="auto">
          <a:xfrm>
            <a:off x="3429000" y="4114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e</a:t>
            </a:r>
          </a:p>
        </p:txBody>
      </p:sp>
      <p:sp>
        <p:nvSpPr>
          <p:cNvPr id="16402" name="Oval 14"/>
          <p:cNvSpPr>
            <a:spLocks noChangeArrowheads="1"/>
          </p:cNvSpPr>
          <p:nvPr/>
        </p:nvSpPr>
        <p:spPr bwMode="auto">
          <a:xfrm>
            <a:off x="5334000" y="2362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3" name="Text Box 15"/>
          <p:cNvSpPr txBox="1">
            <a:spLocks noChangeArrowheads="1"/>
          </p:cNvSpPr>
          <p:nvPr/>
        </p:nvSpPr>
        <p:spPr bwMode="auto">
          <a:xfrm>
            <a:off x="5410200" y="2438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d</a:t>
            </a:r>
          </a:p>
        </p:txBody>
      </p:sp>
      <p:sp>
        <p:nvSpPr>
          <p:cNvPr id="16404" name="Oval 16"/>
          <p:cNvSpPr>
            <a:spLocks noChangeArrowheads="1"/>
          </p:cNvSpPr>
          <p:nvPr/>
        </p:nvSpPr>
        <p:spPr bwMode="auto">
          <a:xfrm>
            <a:off x="5410200" y="4038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5" name="Text Box 17"/>
          <p:cNvSpPr txBox="1">
            <a:spLocks noChangeArrowheads="1"/>
          </p:cNvSpPr>
          <p:nvPr/>
        </p:nvSpPr>
        <p:spPr bwMode="auto">
          <a:xfrm>
            <a:off x="5486400" y="4114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f</a:t>
            </a:r>
          </a:p>
        </p:txBody>
      </p:sp>
      <p:sp>
        <p:nvSpPr>
          <p:cNvPr id="16406" name="Oval 18"/>
          <p:cNvSpPr>
            <a:spLocks noChangeArrowheads="1"/>
          </p:cNvSpPr>
          <p:nvPr/>
        </p:nvSpPr>
        <p:spPr bwMode="auto">
          <a:xfrm>
            <a:off x="7467600" y="4038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7" name="Text Box 19"/>
          <p:cNvSpPr txBox="1">
            <a:spLocks noChangeArrowheads="1"/>
          </p:cNvSpPr>
          <p:nvPr/>
        </p:nvSpPr>
        <p:spPr bwMode="auto">
          <a:xfrm>
            <a:off x="7543800" y="4114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g</a:t>
            </a:r>
          </a:p>
        </p:txBody>
      </p:sp>
      <p:sp>
        <p:nvSpPr>
          <p:cNvPr id="16408" name="Line 20"/>
          <p:cNvSpPr>
            <a:spLocks noChangeShapeType="1"/>
          </p:cNvSpPr>
          <p:nvPr/>
        </p:nvSpPr>
        <p:spPr bwMode="auto">
          <a:xfrm>
            <a:off x="1524000" y="2895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9" name="Line 21"/>
          <p:cNvSpPr>
            <a:spLocks noChangeShapeType="1"/>
          </p:cNvSpPr>
          <p:nvPr/>
        </p:nvSpPr>
        <p:spPr bwMode="auto">
          <a:xfrm>
            <a:off x="3581400" y="2895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0" name="Line 22"/>
          <p:cNvSpPr>
            <a:spLocks noChangeShapeType="1"/>
          </p:cNvSpPr>
          <p:nvPr/>
        </p:nvSpPr>
        <p:spPr bwMode="auto">
          <a:xfrm>
            <a:off x="5638800" y="2895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1" name="Line 23"/>
          <p:cNvSpPr>
            <a:spLocks noChangeShapeType="1"/>
          </p:cNvSpPr>
          <p:nvPr/>
        </p:nvSpPr>
        <p:spPr bwMode="auto">
          <a:xfrm>
            <a:off x="1752600" y="2590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2" name="Line 24"/>
          <p:cNvSpPr>
            <a:spLocks noChangeShapeType="1"/>
          </p:cNvSpPr>
          <p:nvPr/>
        </p:nvSpPr>
        <p:spPr bwMode="auto">
          <a:xfrm>
            <a:off x="3810000" y="2590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3" name="Line 25"/>
          <p:cNvSpPr>
            <a:spLocks noChangeShapeType="1"/>
          </p:cNvSpPr>
          <p:nvPr/>
        </p:nvSpPr>
        <p:spPr bwMode="auto">
          <a:xfrm>
            <a:off x="3886200" y="42672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4" name="Line 26"/>
          <p:cNvSpPr>
            <a:spLocks noChangeShapeType="1"/>
          </p:cNvSpPr>
          <p:nvPr/>
        </p:nvSpPr>
        <p:spPr bwMode="auto">
          <a:xfrm flipV="1">
            <a:off x="3810000" y="2819400"/>
            <a:ext cx="16002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5" name="Line 27"/>
          <p:cNvSpPr>
            <a:spLocks noChangeShapeType="1"/>
          </p:cNvSpPr>
          <p:nvPr/>
        </p:nvSpPr>
        <p:spPr bwMode="auto">
          <a:xfrm>
            <a:off x="5791200" y="2819400"/>
            <a:ext cx="1676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6" name="Text Box 35"/>
          <p:cNvSpPr txBox="1">
            <a:spLocks noChangeArrowheads="1"/>
          </p:cNvSpPr>
          <p:nvPr/>
        </p:nvSpPr>
        <p:spPr bwMode="auto">
          <a:xfrm>
            <a:off x="1066800" y="4724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C :</a:t>
            </a:r>
          </a:p>
        </p:txBody>
      </p:sp>
      <p:sp>
        <p:nvSpPr>
          <p:cNvPr id="16417" name="Rectangle 38"/>
          <p:cNvSpPr>
            <a:spLocks noChangeArrowheads="1"/>
          </p:cNvSpPr>
          <p:nvPr/>
        </p:nvSpPr>
        <p:spPr bwMode="auto">
          <a:xfrm>
            <a:off x="990600" y="5486400"/>
            <a:ext cx="71628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18" name="Text Box 39"/>
          <p:cNvSpPr txBox="1">
            <a:spLocks noChangeArrowheads="1"/>
          </p:cNvSpPr>
          <p:nvPr/>
        </p:nvSpPr>
        <p:spPr bwMode="auto">
          <a:xfrm>
            <a:off x="10668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E’ :</a:t>
            </a:r>
          </a:p>
        </p:txBody>
      </p:sp>
      <p:sp>
        <p:nvSpPr>
          <p:cNvPr id="32808" name="Text Box 40"/>
          <p:cNvSpPr txBox="1">
            <a:spLocks noChangeArrowheads="1"/>
          </p:cNvSpPr>
          <p:nvPr/>
        </p:nvSpPr>
        <p:spPr bwMode="auto">
          <a:xfrm>
            <a:off x="1676400" y="4724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a b</a:t>
            </a:r>
          </a:p>
        </p:txBody>
      </p:sp>
      <p:sp>
        <p:nvSpPr>
          <p:cNvPr id="16420" name="Text Box 41"/>
          <p:cNvSpPr txBox="1">
            <a:spLocks noChangeArrowheads="1"/>
          </p:cNvSpPr>
          <p:nvPr/>
        </p:nvSpPr>
        <p:spPr bwMode="auto">
          <a:xfrm>
            <a:off x="16764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(a,b)</a:t>
            </a:r>
          </a:p>
        </p:txBody>
      </p:sp>
      <p:sp>
        <p:nvSpPr>
          <p:cNvPr id="32810" name="Line 42"/>
          <p:cNvSpPr>
            <a:spLocks noChangeShapeType="1"/>
          </p:cNvSpPr>
          <p:nvPr/>
        </p:nvSpPr>
        <p:spPr bwMode="auto">
          <a:xfrm>
            <a:off x="1524000" y="2895600"/>
            <a:ext cx="0" cy="1143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22" name="Text Box 44"/>
          <p:cNvSpPr txBox="1">
            <a:spLocks noChangeArrowheads="1"/>
          </p:cNvSpPr>
          <p:nvPr/>
        </p:nvSpPr>
        <p:spPr bwMode="auto">
          <a:xfrm>
            <a:off x="24384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(b,c)</a:t>
            </a:r>
          </a:p>
        </p:txBody>
      </p:sp>
      <p:sp>
        <p:nvSpPr>
          <p:cNvPr id="16423" name="Text Box 47"/>
          <p:cNvSpPr txBox="1">
            <a:spLocks noChangeArrowheads="1"/>
          </p:cNvSpPr>
          <p:nvPr/>
        </p:nvSpPr>
        <p:spPr bwMode="auto">
          <a:xfrm>
            <a:off x="31242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(c,d)</a:t>
            </a:r>
          </a:p>
        </p:txBody>
      </p:sp>
      <p:sp>
        <p:nvSpPr>
          <p:cNvPr id="16424" name="Text Box 48"/>
          <p:cNvSpPr txBox="1">
            <a:spLocks noChangeArrowheads="1"/>
          </p:cNvSpPr>
          <p:nvPr/>
        </p:nvSpPr>
        <p:spPr bwMode="auto">
          <a:xfrm>
            <a:off x="38100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(c,e)</a:t>
            </a:r>
          </a:p>
        </p:txBody>
      </p:sp>
      <p:sp>
        <p:nvSpPr>
          <p:cNvPr id="16425" name="Text Box 49"/>
          <p:cNvSpPr txBox="1">
            <a:spLocks noChangeArrowheads="1"/>
          </p:cNvSpPr>
          <p:nvPr/>
        </p:nvSpPr>
        <p:spPr bwMode="auto">
          <a:xfrm>
            <a:off x="44958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(d,e)</a:t>
            </a:r>
          </a:p>
        </p:txBody>
      </p:sp>
      <p:sp>
        <p:nvSpPr>
          <p:cNvPr id="16426" name="Text Box 50"/>
          <p:cNvSpPr txBox="1">
            <a:spLocks noChangeArrowheads="1"/>
          </p:cNvSpPr>
          <p:nvPr/>
        </p:nvSpPr>
        <p:spPr bwMode="auto">
          <a:xfrm>
            <a:off x="51816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(d,f)</a:t>
            </a:r>
          </a:p>
        </p:txBody>
      </p:sp>
      <p:sp>
        <p:nvSpPr>
          <p:cNvPr id="16427" name="Text Box 51"/>
          <p:cNvSpPr txBox="1">
            <a:spLocks noChangeArrowheads="1"/>
          </p:cNvSpPr>
          <p:nvPr/>
        </p:nvSpPr>
        <p:spPr bwMode="auto">
          <a:xfrm>
            <a:off x="58674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(d,g)</a:t>
            </a:r>
          </a:p>
        </p:txBody>
      </p:sp>
      <p:sp>
        <p:nvSpPr>
          <p:cNvPr id="16428" name="Text Box 52"/>
          <p:cNvSpPr txBox="1">
            <a:spLocks noChangeArrowheads="1"/>
          </p:cNvSpPr>
          <p:nvPr/>
        </p:nvSpPr>
        <p:spPr bwMode="auto">
          <a:xfrm>
            <a:off x="65532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(e,f)</a:t>
            </a:r>
          </a:p>
        </p:txBody>
      </p:sp>
      <p:sp>
        <p:nvSpPr>
          <p:cNvPr id="32821" name="AutoShape 53"/>
          <p:cNvSpPr>
            <a:spLocks noChangeArrowheads="1"/>
          </p:cNvSpPr>
          <p:nvPr/>
        </p:nvSpPr>
        <p:spPr bwMode="auto">
          <a:xfrm>
            <a:off x="1828800" y="5486400"/>
            <a:ext cx="533400" cy="533400"/>
          </a:xfrm>
          <a:custGeom>
            <a:avLst/>
            <a:gdLst>
              <a:gd name="T0" fmla="*/ 162637799 w 21600"/>
              <a:gd name="T1" fmla="*/ 0 h 21600"/>
              <a:gd name="T2" fmla="*/ 47632072 w 21600"/>
              <a:gd name="T3" fmla="*/ 47632072 h 21600"/>
              <a:gd name="T4" fmla="*/ 0 w 21600"/>
              <a:gd name="T5" fmla="*/ 162637799 h 21600"/>
              <a:gd name="T6" fmla="*/ 47632072 w 21600"/>
              <a:gd name="T7" fmla="*/ 277643983 h 21600"/>
              <a:gd name="T8" fmla="*/ 162637799 w 21600"/>
              <a:gd name="T9" fmla="*/ 325275598 h 21600"/>
              <a:gd name="T10" fmla="*/ 277643983 w 21600"/>
              <a:gd name="T11" fmla="*/ 277643983 h 21600"/>
              <a:gd name="T12" fmla="*/ 325275598 w 21600"/>
              <a:gd name="T13" fmla="*/ 162637799 h 21600"/>
              <a:gd name="T14" fmla="*/ 277643983 w 21600"/>
              <a:gd name="T15" fmla="*/ 4763207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22" name="AutoShape 54"/>
          <p:cNvSpPr>
            <a:spLocks noChangeArrowheads="1"/>
          </p:cNvSpPr>
          <p:nvPr/>
        </p:nvSpPr>
        <p:spPr bwMode="auto">
          <a:xfrm>
            <a:off x="2590800" y="5486400"/>
            <a:ext cx="533400" cy="533400"/>
          </a:xfrm>
          <a:custGeom>
            <a:avLst/>
            <a:gdLst>
              <a:gd name="T0" fmla="*/ 162637799 w 21600"/>
              <a:gd name="T1" fmla="*/ 0 h 21600"/>
              <a:gd name="T2" fmla="*/ 47632072 w 21600"/>
              <a:gd name="T3" fmla="*/ 47632072 h 21600"/>
              <a:gd name="T4" fmla="*/ 0 w 21600"/>
              <a:gd name="T5" fmla="*/ 162637799 h 21600"/>
              <a:gd name="T6" fmla="*/ 47632072 w 21600"/>
              <a:gd name="T7" fmla="*/ 277643983 h 21600"/>
              <a:gd name="T8" fmla="*/ 162637799 w 21600"/>
              <a:gd name="T9" fmla="*/ 325275598 h 21600"/>
              <a:gd name="T10" fmla="*/ 277643983 w 21600"/>
              <a:gd name="T11" fmla="*/ 277643983 h 21600"/>
              <a:gd name="T12" fmla="*/ 325275598 w 21600"/>
              <a:gd name="T13" fmla="*/ 162637799 h 21600"/>
              <a:gd name="T14" fmla="*/ 277643983 w 21600"/>
              <a:gd name="T15" fmla="*/ 4763207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23" name="AutoShape 55"/>
          <p:cNvSpPr>
            <a:spLocks noChangeArrowheads="1"/>
          </p:cNvSpPr>
          <p:nvPr/>
        </p:nvSpPr>
        <p:spPr bwMode="auto">
          <a:xfrm>
            <a:off x="3276600" y="5486400"/>
            <a:ext cx="533400" cy="533400"/>
          </a:xfrm>
          <a:custGeom>
            <a:avLst/>
            <a:gdLst>
              <a:gd name="T0" fmla="*/ 162637799 w 21600"/>
              <a:gd name="T1" fmla="*/ 0 h 21600"/>
              <a:gd name="T2" fmla="*/ 47632072 w 21600"/>
              <a:gd name="T3" fmla="*/ 47632072 h 21600"/>
              <a:gd name="T4" fmla="*/ 0 w 21600"/>
              <a:gd name="T5" fmla="*/ 162637799 h 21600"/>
              <a:gd name="T6" fmla="*/ 47632072 w 21600"/>
              <a:gd name="T7" fmla="*/ 277643983 h 21600"/>
              <a:gd name="T8" fmla="*/ 162637799 w 21600"/>
              <a:gd name="T9" fmla="*/ 325275598 h 21600"/>
              <a:gd name="T10" fmla="*/ 277643983 w 21600"/>
              <a:gd name="T11" fmla="*/ 277643983 h 21600"/>
              <a:gd name="T12" fmla="*/ 325275598 w 21600"/>
              <a:gd name="T13" fmla="*/ 162637799 h 21600"/>
              <a:gd name="T14" fmla="*/ 277643983 w 21600"/>
              <a:gd name="T15" fmla="*/ 4763207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24" name="AutoShape 56"/>
          <p:cNvSpPr>
            <a:spLocks noChangeArrowheads="1"/>
          </p:cNvSpPr>
          <p:nvPr/>
        </p:nvSpPr>
        <p:spPr bwMode="auto">
          <a:xfrm>
            <a:off x="3962400" y="5486400"/>
            <a:ext cx="533400" cy="533400"/>
          </a:xfrm>
          <a:custGeom>
            <a:avLst/>
            <a:gdLst>
              <a:gd name="T0" fmla="*/ 162637799 w 21600"/>
              <a:gd name="T1" fmla="*/ 0 h 21600"/>
              <a:gd name="T2" fmla="*/ 47632072 w 21600"/>
              <a:gd name="T3" fmla="*/ 47632072 h 21600"/>
              <a:gd name="T4" fmla="*/ 0 w 21600"/>
              <a:gd name="T5" fmla="*/ 162637799 h 21600"/>
              <a:gd name="T6" fmla="*/ 47632072 w 21600"/>
              <a:gd name="T7" fmla="*/ 277643983 h 21600"/>
              <a:gd name="T8" fmla="*/ 162637799 w 21600"/>
              <a:gd name="T9" fmla="*/ 325275598 h 21600"/>
              <a:gd name="T10" fmla="*/ 277643983 w 21600"/>
              <a:gd name="T11" fmla="*/ 277643983 h 21600"/>
              <a:gd name="T12" fmla="*/ 325275598 w 21600"/>
              <a:gd name="T13" fmla="*/ 162637799 h 21600"/>
              <a:gd name="T14" fmla="*/ 277643983 w 21600"/>
              <a:gd name="T15" fmla="*/ 4763207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25" name="AutoShape 57"/>
          <p:cNvSpPr>
            <a:spLocks noChangeArrowheads="1"/>
          </p:cNvSpPr>
          <p:nvPr/>
        </p:nvSpPr>
        <p:spPr bwMode="auto">
          <a:xfrm>
            <a:off x="4648200" y="5486400"/>
            <a:ext cx="533400" cy="533400"/>
          </a:xfrm>
          <a:custGeom>
            <a:avLst/>
            <a:gdLst>
              <a:gd name="T0" fmla="*/ 162637799 w 21600"/>
              <a:gd name="T1" fmla="*/ 0 h 21600"/>
              <a:gd name="T2" fmla="*/ 47632072 w 21600"/>
              <a:gd name="T3" fmla="*/ 47632072 h 21600"/>
              <a:gd name="T4" fmla="*/ 0 w 21600"/>
              <a:gd name="T5" fmla="*/ 162637799 h 21600"/>
              <a:gd name="T6" fmla="*/ 47632072 w 21600"/>
              <a:gd name="T7" fmla="*/ 277643983 h 21600"/>
              <a:gd name="T8" fmla="*/ 162637799 w 21600"/>
              <a:gd name="T9" fmla="*/ 325275598 h 21600"/>
              <a:gd name="T10" fmla="*/ 277643983 w 21600"/>
              <a:gd name="T11" fmla="*/ 277643983 h 21600"/>
              <a:gd name="T12" fmla="*/ 325275598 w 21600"/>
              <a:gd name="T13" fmla="*/ 162637799 h 21600"/>
              <a:gd name="T14" fmla="*/ 277643983 w 21600"/>
              <a:gd name="T15" fmla="*/ 4763207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26" name="AutoShape 58"/>
          <p:cNvSpPr>
            <a:spLocks noChangeArrowheads="1"/>
          </p:cNvSpPr>
          <p:nvPr/>
        </p:nvSpPr>
        <p:spPr bwMode="auto">
          <a:xfrm>
            <a:off x="5334000" y="5486400"/>
            <a:ext cx="533400" cy="533400"/>
          </a:xfrm>
          <a:custGeom>
            <a:avLst/>
            <a:gdLst>
              <a:gd name="T0" fmla="*/ 162637799 w 21600"/>
              <a:gd name="T1" fmla="*/ 0 h 21600"/>
              <a:gd name="T2" fmla="*/ 47632072 w 21600"/>
              <a:gd name="T3" fmla="*/ 47632072 h 21600"/>
              <a:gd name="T4" fmla="*/ 0 w 21600"/>
              <a:gd name="T5" fmla="*/ 162637799 h 21600"/>
              <a:gd name="T6" fmla="*/ 47632072 w 21600"/>
              <a:gd name="T7" fmla="*/ 277643983 h 21600"/>
              <a:gd name="T8" fmla="*/ 162637799 w 21600"/>
              <a:gd name="T9" fmla="*/ 325275598 h 21600"/>
              <a:gd name="T10" fmla="*/ 277643983 w 21600"/>
              <a:gd name="T11" fmla="*/ 277643983 h 21600"/>
              <a:gd name="T12" fmla="*/ 325275598 w 21600"/>
              <a:gd name="T13" fmla="*/ 162637799 h 21600"/>
              <a:gd name="T14" fmla="*/ 277643983 w 21600"/>
              <a:gd name="T15" fmla="*/ 4763207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27" name="AutoShape 59"/>
          <p:cNvSpPr>
            <a:spLocks noChangeArrowheads="1"/>
          </p:cNvSpPr>
          <p:nvPr/>
        </p:nvSpPr>
        <p:spPr bwMode="auto">
          <a:xfrm>
            <a:off x="6019800" y="5486400"/>
            <a:ext cx="533400" cy="533400"/>
          </a:xfrm>
          <a:custGeom>
            <a:avLst/>
            <a:gdLst>
              <a:gd name="T0" fmla="*/ 162637799 w 21600"/>
              <a:gd name="T1" fmla="*/ 0 h 21600"/>
              <a:gd name="T2" fmla="*/ 47632072 w 21600"/>
              <a:gd name="T3" fmla="*/ 47632072 h 21600"/>
              <a:gd name="T4" fmla="*/ 0 w 21600"/>
              <a:gd name="T5" fmla="*/ 162637799 h 21600"/>
              <a:gd name="T6" fmla="*/ 47632072 w 21600"/>
              <a:gd name="T7" fmla="*/ 277643983 h 21600"/>
              <a:gd name="T8" fmla="*/ 162637799 w 21600"/>
              <a:gd name="T9" fmla="*/ 325275598 h 21600"/>
              <a:gd name="T10" fmla="*/ 277643983 w 21600"/>
              <a:gd name="T11" fmla="*/ 277643983 h 21600"/>
              <a:gd name="T12" fmla="*/ 325275598 w 21600"/>
              <a:gd name="T13" fmla="*/ 162637799 h 21600"/>
              <a:gd name="T14" fmla="*/ 277643983 w 21600"/>
              <a:gd name="T15" fmla="*/ 4763207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28" name="AutoShape 60"/>
          <p:cNvSpPr>
            <a:spLocks noChangeArrowheads="1"/>
          </p:cNvSpPr>
          <p:nvPr/>
        </p:nvSpPr>
        <p:spPr bwMode="auto">
          <a:xfrm>
            <a:off x="6705600" y="5486400"/>
            <a:ext cx="533400" cy="533400"/>
          </a:xfrm>
          <a:custGeom>
            <a:avLst/>
            <a:gdLst>
              <a:gd name="T0" fmla="*/ 162637799 w 21600"/>
              <a:gd name="T1" fmla="*/ 0 h 21600"/>
              <a:gd name="T2" fmla="*/ 47632072 w 21600"/>
              <a:gd name="T3" fmla="*/ 47632072 h 21600"/>
              <a:gd name="T4" fmla="*/ 0 w 21600"/>
              <a:gd name="T5" fmla="*/ 162637799 h 21600"/>
              <a:gd name="T6" fmla="*/ 47632072 w 21600"/>
              <a:gd name="T7" fmla="*/ 277643983 h 21600"/>
              <a:gd name="T8" fmla="*/ 162637799 w 21600"/>
              <a:gd name="T9" fmla="*/ 325275598 h 21600"/>
              <a:gd name="T10" fmla="*/ 277643983 w 21600"/>
              <a:gd name="T11" fmla="*/ 277643983 h 21600"/>
              <a:gd name="T12" fmla="*/ 325275598 w 21600"/>
              <a:gd name="T13" fmla="*/ 162637799 h 21600"/>
              <a:gd name="T14" fmla="*/ 277643983 w 21600"/>
              <a:gd name="T15" fmla="*/ 4763207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29" name="Text Box 61"/>
          <p:cNvSpPr txBox="1">
            <a:spLocks noChangeArrowheads="1"/>
          </p:cNvSpPr>
          <p:nvPr/>
        </p:nvSpPr>
        <p:spPr bwMode="auto">
          <a:xfrm>
            <a:off x="2209800" y="4724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c d</a:t>
            </a:r>
          </a:p>
        </p:txBody>
      </p:sp>
      <p:sp>
        <p:nvSpPr>
          <p:cNvPr id="32830" name="Line 62"/>
          <p:cNvSpPr>
            <a:spLocks noChangeShapeType="1"/>
          </p:cNvSpPr>
          <p:nvPr/>
        </p:nvSpPr>
        <p:spPr bwMode="auto">
          <a:xfrm>
            <a:off x="3810000" y="2590800"/>
            <a:ext cx="1524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831" name="Text Box 63"/>
          <p:cNvSpPr txBox="1">
            <a:spLocks noChangeArrowheads="1"/>
          </p:cNvSpPr>
          <p:nvPr/>
        </p:nvSpPr>
        <p:spPr bwMode="auto">
          <a:xfrm>
            <a:off x="2743200" y="4724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e f</a:t>
            </a:r>
          </a:p>
        </p:txBody>
      </p:sp>
      <p:sp>
        <p:nvSpPr>
          <p:cNvPr id="32832" name="Line 64"/>
          <p:cNvSpPr>
            <a:spLocks noChangeShapeType="1"/>
          </p:cNvSpPr>
          <p:nvPr/>
        </p:nvSpPr>
        <p:spPr bwMode="auto">
          <a:xfrm>
            <a:off x="3886200" y="4267200"/>
            <a:ext cx="1524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833" name="Text Box 65"/>
          <p:cNvSpPr txBox="1">
            <a:spLocks noChangeArrowheads="1"/>
          </p:cNvSpPr>
          <p:nvPr/>
        </p:nvSpPr>
        <p:spPr bwMode="auto">
          <a:xfrm>
            <a:off x="3505200" y="4724400"/>
            <a:ext cx="464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Approximate vertex cover. C=6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40" grpId="0" animBg="1"/>
      <p:bldP spid="32839" grpId="0" animBg="1"/>
      <p:bldP spid="32838" grpId="0" animBg="1"/>
      <p:bldP spid="32837" grpId="0" animBg="1"/>
      <p:bldP spid="32836" grpId="0" animBg="1"/>
      <p:bldP spid="32834" grpId="0" animBg="1"/>
      <p:bldP spid="32808" grpId="0"/>
      <p:bldP spid="32810" grpId="0" animBg="1"/>
      <p:bldP spid="32821" grpId="0" animBg="1"/>
      <p:bldP spid="32822" grpId="0" animBg="1"/>
      <p:bldP spid="32823" grpId="0" animBg="1"/>
      <p:bldP spid="32824" grpId="0" animBg="1"/>
      <p:bldP spid="32825" grpId="0" animBg="1"/>
      <p:bldP spid="32826" grpId="0" animBg="1"/>
      <p:bldP spid="32827" grpId="0" animBg="1"/>
      <p:bldP spid="32827" grpId="1" animBg="1"/>
      <p:bldP spid="32828" grpId="0" animBg="1"/>
      <p:bldP spid="32829" grpId="0"/>
      <p:bldP spid="32830" grpId="0" animBg="1"/>
      <p:bldP spid="32831" grpId="0"/>
      <p:bldP spid="32832" grpId="0" animBg="1"/>
      <p:bldP spid="328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Oval 3"/>
          <p:cNvSpPr>
            <a:spLocks noChangeArrowheads="1"/>
          </p:cNvSpPr>
          <p:nvPr/>
        </p:nvSpPr>
        <p:spPr bwMode="auto">
          <a:xfrm>
            <a:off x="5181600" y="22098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3200400" y="38862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3124200" y="22098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1066800" y="22098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Rectangle 8"/>
          <p:cNvSpPr>
            <a:spLocks noChangeArrowheads="1"/>
          </p:cNvSpPr>
          <p:nvPr/>
        </p:nvSpPr>
        <p:spPr bwMode="auto">
          <a:xfrm>
            <a:off x="990600" y="4724400"/>
            <a:ext cx="71628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Improved version:</a:t>
            </a:r>
          </a:p>
        </p:txBody>
      </p:sp>
      <p:sp>
        <p:nvSpPr>
          <p:cNvPr id="17416" name="Oval 10"/>
          <p:cNvSpPr>
            <a:spLocks noChangeArrowheads="1"/>
          </p:cNvSpPr>
          <p:nvPr/>
        </p:nvSpPr>
        <p:spPr bwMode="auto">
          <a:xfrm>
            <a:off x="1219200" y="2362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7" name="Text Box 11"/>
          <p:cNvSpPr txBox="1">
            <a:spLocks noChangeArrowheads="1"/>
          </p:cNvSpPr>
          <p:nvPr/>
        </p:nvSpPr>
        <p:spPr bwMode="auto">
          <a:xfrm>
            <a:off x="1295400" y="2438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b</a:t>
            </a:r>
          </a:p>
        </p:txBody>
      </p:sp>
      <p:sp>
        <p:nvSpPr>
          <p:cNvPr id="17418" name="Oval 12"/>
          <p:cNvSpPr>
            <a:spLocks noChangeArrowheads="1"/>
          </p:cNvSpPr>
          <p:nvPr/>
        </p:nvSpPr>
        <p:spPr bwMode="auto">
          <a:xfrm>
            <a:off x="1295400" y="4038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9" name="Text Box 13"/>
          <p:cNvSpPr txBox="1">
            <a:spLocks noChangeArrowheads="1"/>
          </p:cNvSpPr>
          <p:nvPr/>
        </p:nvSpPr>
        <p:spPr bwMode="auto">
          <a:xfrm>
            <a:off x="1371600" y="4114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a</a:t>
            </a:r>
          </a:p>
        </p:txBody>
      </p:sp>
      <p:sp>
        <p:nvSpPr>
          <p:cNvPr id="17420" name="Oval 14"/>
          <p:cNvSpPr>
            <a:spLocks noChangeArrowheads="1"/>
          </p:cNvSpPr>
          <p:nvPr/>
        </p:nvSpPr>
        <p:spPr bwMode="auto">
          <a:xfrm>
            <a:off x="3276600" y="2362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Text Box 15"/>
          <p:cNvSpPr txBox="1">
            <a:spLocks noChangeArrowheads="1"/>
          </p:cNvSpPr>
          <p:nvPr/>
        </p:nvSpPr>
        <p:spPr bwMode="auto">
          <a:xfrm>
            <a:off x="3352800" y="2438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c</a:t>
            </a:r>
          </a:p>
        </p:txBody>
      </p:sp>
      <p:sp>
        <p:nvSpPr>
          <p:cNvPr id="17422" name="Oval 16"/>
          <p:cNvSpPr>
            <a:spLocks noChangeArrowheads="1"/>
          </p:cNvSpPr>
          <p:nvPr/>
        </p:nvSpPr>
        <p:spPr bwMode="auto">
          <a:xfrm>
            <a:off x="3352800" y="4038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3" name="Text Box 17"/>
          <p:cNvSpPr txBox="1">
            <a:spLocks noChangeArrowheads="1"/>
          </p:cNvSpPr>
          <p:nvPr/>
        </p:nvSpPr>
        <p:spPr bwMode="auto">
          <a:xfrm>
            <a:off x="3429000" y="4114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e</a:t>
            </a:r>
          </a:p>
        </p:txBody>
      </p:sp>
      <p:sp>
        <p:nvSpPr>
          <p:cNvPr id="17424" name="Oval 18"/>
          <p:cNvSpPr>
            <a:spLocks noChangeArrowheads="1"/>
          </p:cNvSpPr>
          <p:nvPr/>
        </p:nvSpPr>
        <p:spPr bwMode="auto">
          <a:xfrm>
            <a:off x="5334000" y="2362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Text Box 19"/>
          <p:cNvSpPr txBox="1">
            <a:spLocks noChangeArrowheads="1"/>
          </p:cNvSpPr>
          <p:nvPr/>
        </p:nvSpPr>
        <p:spPr bwMode="auto">
          <a:xfrm>
            <a:off x="5410200" y="2438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d</a:t>
            </a:r>
          </a:p>
        </p:txBody>
      </p:sp>
      <p:sp>
        <p:nvSpPr>
          <p:cNvPr id="17426" name="Oval 20"/>
          <p:cNvSpPr>
            <a:spLocks noChangeArrowheads="1"/>
          </p:cNvSpPr>
          <p:nvPr/>
        </p:nvSpPr>
        <p:spPr bwMode="auto">
          <a:xfrm>
            <a:off x="5410200" y="4038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Text Box 21"/>
          <p:cNvSpPr txBox="1">
            <a:spLocks noChangeArrowheads="1"/>
          </p:cNvSpPr>
          <p:nvPr/>
        </p:nvSpPr>
        <p:spPr bwMode="auto">
          <a:xfrm>
            <a:off x="5486400" y="4114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f</a:t>
            </a:r>
          </a:p>
        </p:txBody>
      </p:sp>
      <p:sp>
        <p:nvSpPr>
          <p:cNvPr id="17428" name="Oval 22"/>
          <p:cNvSpPr>
            <a:spLocks noChangeArrowheads="1"/>
          </p:cNvSpPr>
          <p:nvPr/>
        </p:nvSpPr>
        <p:spPr bwMode="auto">
          <a:xfrm>
            <a:off x="7467600" y="40386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9" name="Text Box 23"/>
          <p:cNvSpPr txBox="1">
            <a:spLocks noChangeArrowheads="1"/>
          </p:cNvSpPr>
          <p:nvPr/>
        </p:nvSpPr>
        <p:spPr bwMode="auto">
          <a:xfrm>
            <a:off x="7543800" y="4114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g</a:t>
            </a:r>
          </a:p>
        </p:txBody>
      </p:sp>
      <p:sp>
        <p:nvSpPr>
          <p:cNvPr id="17430" name="Line 24"/>
          <p:cNvSpPr>
            <a:spLocks noChangeShapeType="1"/>
          </p:cNvSpPr>
          <p:nvPr/>
        </p:nvSpPr>
        <p:spPr bwMode="auto">
          <a:xfrm>
            <a:off x="1524000" y="2895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1" name="Line 25"/>
          <p:cNvSpPr>
            <a:spLocks noChangeShapeType="1"/>
          </p:cNvSpPr>
          <p:nvPr/>
        </p:nvSpPr>
        <p:spPr bwMode="auto">
          <a:xfrm>
            <a:off x="3581400" y="2895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2" name="Line 26"/>
          <p:cNvSpPr>
            <a:spLocks noChangeShapeType="1"/>
          </p:cNvSpPr>
          <p:nvPr/>
        </p:nvSpPr>
        <p:spPr bwMode="auto">
          <a:xfrm>
            <a:off x="5638800" y="2895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3" name="Line 27"/>
          <p:cNvSpPr>
            <a:spLocks noChangeShapeType="1"/>
          </p:cNvSpPr>
          <p:nvPr/>
        </p:nvSpPr>
        <p:spPr bwMode="auto">
          <a:xfrm>
            <a:off x="1752600" y="2590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4" name="Line 28"/>
          <p:cNvSpPr>
            <a:spLocks noChangeShapeType="1"/>
          </p:cNvSpPr>
          <p:nvPr/>
        </p:nvSpPr>
        <p:spPr bwMode="auto">
          <a:xfrm>
            <a:off x="3810000" y="2590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5" name="Line 29"/>
          <p:cNvSpPr>
            <a:spLocks noChangeShapeType="1"/>
          </p:cNvSpPr>
          <p:nvPr/>
        </p:nvSpPr>
        <p:spPr bwMode="auto">
          <a:xfrm>
            <a:off x="3886200" y="42672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6" name="Line 30"/>
          <p:cNvSpPr>
            <a:spLocks noChangeShapeType="1"/>
          </p:cNvSpPr>
          <p:nvPr/>
        </p:nvSpPr>
        <p:spPr bwMode="auto">
          <a:xfrm flipV="1">
            <a:off x="3810000" y="2819400"/>
            <a:ext cx="16002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7" name="Line 31"/>
          <p:cNvSpPr>
            <a:spLocks noChangeShapeType="1"/>
          </p:cNvSpPr>
          <p:nvPr/>
        </p:nvSpPr>
        <p:spPr bwMode="auto">
          <a:xfrm>
            <a:off x="5791200" y="2819400"/>
            <a:ext cx="1676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8" name="Text Box 32"/>
          <p:cNvSpPr txBox="1">
            <a:spLocks noChangeArrowheads="1"/>
          </p:cNvSpPr>
          <p:nvPr/>
        </p:nvSpPr>
        <p:spPr bwMode="auto">
          <a:xfrm>
            <a:off x="1066800" y="4724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C :</a:t>
            </a:r>
          </a:p>
        </p:txBody>
      </p:sp>
      <p:sp>
        <p:nvSpPr>
          <p:cNvPr id="17439" name="Rectangle 33"/>
          <p:cNvSpPr>
            <a:spLocks noChangeArrowheads="1"/>
          </p:cNvSpPr>
          <p:nvPr/>
        </p:nvSpPr>
        <p:spPr bwMode="auto">
          <a:xfrm>
            <a:off x="990600" y="5486400"/>
            <a:ext cx="7162800" cy="53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0" name="Text Box 34"/>
          <p:cNvSpPr txBox="1">
            <a:spLocks noChangeArrowheads="1"/>
          </p:cNvSpPr>
          <p:nvPr/>
        </p:nvSpPr>
        <p:spPr bwMode="auto">
          <a:xfrm>
            <a:off x="10668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E’ :</a:t>
            </a:r>
          </a:p>
        </p:txBody>
      </p:sp>
      <p:sp>
        <p:nvSpPr>
          <p:cNvPr id="33827" name="Text Box 35"/>
          <p:cNvSpPr txBox="1">
            <a:spLocks noChangeArrowheads="1"/>
          </p:cNvSpPr>
          <p:nvPr/>
        </p:nvSpPr>
        <p:spPr bwMode="auto">
          <a:xfrm>
            <a:off x="1676400" y="47244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d e b c</a:t>
            </a:r>
          </a:p>
        </p:txBody>
      </p:sp>
      <p:sp>
        <p:nvSpPr>
          <p:cNvPr id="17442" name="Text Box 36"/>
          <p:cNvSpPr txBox="1">
            <a:spLocks noChangeArrowheads="1"/>
          </p:cNvSpPr>
          <p:nvPr/>
        </p:nvSpPr>
        <p:spPr bwMode="auto">
          <a:xfrm>
            <a:off x="63246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(a,b)</a:t>
            </a:r>
          </a:p>
        </p:txBody>
      </p:sp>
      <p:sp>
        <p:nvSpPr>
          <p:cNvPr id="17443" name="Text Box 38"/>
          <p:cNvSpPr txBox="1">
            <a:spLocks noChangeArrowheads="1"/>
          </p:cNvSpPr>
          <p:nvPr/>
        </p:nvSpPr>
        <p:spPr bwMode="auto">
          <a:xfrm>
            <a:off x="56388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(b,c)</a:t>
            </a:r>
          </a:p>
        </p:txBody>
      </p:sp>
      <p:sp>
        <p:nvSpPr>
          <p:cNvPr id="17444" name="Text Box 39"/>
          <p:cNvSpPr txBox="1">
            <a:spLocks noChangeArrowheads="1"/>
          </p:cNvSpPr>
          <p:nvPr/>
        </p:nvSpPr>
        <p:spPr bwMode="auto">
          <a:xfrm>
            <a:off x="23622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(c,d)</a:t>
            </a:r>
          </a:p>
        </p:txBody>
      </p:sp>
      <p:sp>
        <p:nvSpPr>
          <p:cNvPr id="17445" name="Text Box 40"/>
          <p:cNvSpPr txBox="1">
            <a:spLocks noChangeArrowheads="1"/>
          </p:cNvSpPr>
          <p:nvPr/>
        </p:nvSpPr>
        <p:spPr bwMode="auto">
          <a:xfrm>
            <a:off x="30480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(c,e)</a:t>
            </a:r>
          </a:p>
        </p:txBody>
      </p:sp>
      <p:sp>
        <p:nvSpPr>
          <p:cNvPr id="17446" name="Text Box 41"/>
          <p:cNvSpPr txBox="1">
            <a:spLocks noChangeArrowheads="1"/>
          </p:cNvSpPr>
          <p:nvPr/>
        </p:nvSpPr>
        <p:spPr bwMode="auto">
          <a:xfrm>
            <a:off x="16764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(d,e)</a:t>
            </a:r>
          </a:p>
        </p:txBody>
      </p:sp>
      <p:sp>
        <p:nvSpPr>
          <p:cNvPr id="17447" name="Text Box 42"/>
          <p:cNvSpPr txBox="1">
            <a:spLocks noChangeArrowheads="1"/>
          </p:cNvSpPr>
          <p:nvPr/>
        </p:nvSpPr>
        <p:spPr bwMode="auto">
          <a:xfrm>
            <a:off x="37338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(d,f)</a:t>
            </a:r>
          </a:p>
        </p:txBody>
      </p:sp>
      <p:sp>
        <p:nvSpPr>
          <p:cNvPr id="17448" name="Text Box 43"/>
          <p:cNvSpPr txBox="1">
            <a:spLocks noChangeArrowheads="1"/>
          </p:cNvSpPr>
          <p:nvPr/>
        </p:nvSpPr>
        <p:spPr bwMode="auto">
          <a:xfrm>
            <a:off x="43434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(d,g)</a:t>
            </a:r>
          </a:p>
        </p:txBody>
      </p:sp>
      <p:sp>
        <p:nvSpPr>
          <p:cNvPr id="17449" name="Text Box 44"/>
          <p:cNvSpPr txBox="1">
            <a:spLocks noChangeArrowheads="1"/>
          </p:cNvSpPr>
          <p:nvPr/>
        </p:nvSpPr>
        <p:spPr bwMode="auto">
          <a:xfrm>
            <a:off x="5029200" y="5486400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(e,f)</a:t>
            </a:r>
          </a:p>
        </p:txBody>
      </p:sp>
      <p:sp>
        <p:nvSpPr>
          <p:cNvPr id="33846" name="Line 54"/>
          <p:cNvSpPr>
            <a:spLocks noChangeShapeType="1"/>
          </p:cNvSpPr>
          <p:nvPr/>
        </p:nvSpPr>
        <p:spPr bwMode="auto">
          <a:xfrm>
            <a:off x="1752600" y="2590800"/>
            <a:ext cx="1524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49" name="Text Box 57"/>
          <p:cNvSpPr txBox="1">
            <a:spLocks noChangeArrowheads="1"/>
          </p:cNvSpPr>
          <p:nvPr/>
        </p:nvSpPr>
        <p:spPr bwMode="auto">
          <a:xfrm>
            <a:off x="3505200" y="4724400"/>
            <a:ext cx="464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/>
              <a:t>Approximate vertex cover. C=4</a:t>
            </a:r>
          </a:p>
        </p:txBody>
      </p:sp>
      <p:sp>
        <p:nvSpPr>
          <p:cNvPr id="33850" name="Line 58"/>
          <p:cNvSpPr>
            <a:spLocks noChangeShapeType="1"/>
          </p:cNvSpPr>
          <p:nvPr/>
        </p:nvSpPr>
        <p:spPr bwMode="auto">
          <a:xfrm flipV="1">
            <a:off x="3810000" y="2819400"/>
            <a:ext cx="1600200" cy="1295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animBg="1"/>
      <p:bldP spid="33796" grpId="0" animBg="1"/>
      <p:bldP spid="33797" grpId="0" animBg="1"/>
      <p:bldP spid="33798" grpId="0" animBg="1"/>
      <p:bldP spid="33827" grpId="0"/>
      <p:bldP spid="33846" grpId="0" animBg="1"/>
      <p:bldP spid="33849" grpId="0"/>
      <p:bldP spid="3385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val 2"/>
          <p:cNvSpPr>
            <a:spLocks noChangeArrowheads="1"/>
          </p:cNvSpPr>
          <p:nvPr/>
        </p:nvSpPr>
        <p:spPr bwMode="auto">
          <a:xfrm>
            <a:off x="3200400" y="41148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5181600" y="24384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1066800" y="2438400"/>
            <a:ext cx="838200" cy="838200"/>
          </a:xfrm>
          <a:prstGeom prst="ellipse">
            <a:avLst/>
          </a:prstGeom>
          <a:solidFill>
            <a:srgbClr val="800000"/>
          </a:solidFill>
          <a:ln w="9525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Is it possible to approximate the optimal solution?</a:t>
            </a:r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1219200" y="25908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1295400" y="26670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b</a:t>
            </a:r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12954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1371600" y="4343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a</a:t>
            </a:r>
          </a:p>
        </p:txBody>
      </p:sp>
      <p:sp>
        <p:nvSpPr>
          <p:cNvPr id="18442" name="Oval 10"/>
          <p:cNvSpPr>
            <a:spLocks noChangeArrowheads="1"/>
          </p:cNvSpPr>
          <p:nvPr/>
        </p:nvSpPr>
        <p:spPr bwMode="auto">
          <a:xfrm>
            <a:off x="3276600" y="25908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3352800" y="26670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c</a:t>
            </a:r>
          </a:p>
        </p:txBody>
      </p:sp>
      <p:sp>
        <p:nvSpPr>
          <p:cNvPr id="18444" name="Oval 12"/>
          <p:cNvSpPr>
            <a:spLocks noChangeArrowheads="1"/>
          </p:cNvSpPr>
          <p:nvPr/>
        </p:nvSpPr>
        <p:spPr bwMode="auto">
          <a:xfrm>
            <a:off x="33528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3429000" y="4343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e</a:t>
            </a:r>
          </a:p>
        </p:txBody>
      </p:sp>
      <p:sp>
        <p:nvSpPr>
          <p:cNvPr id="18446" name="Oval 14"/>
          <p:cNvSpPr>
            <a:spLocks noChangeArrowheads="1"/>
          </p:cNvSpPr>
          <p:nvPr/>
        </p:nvSpPr>
        <p:spPr bwMode="auto">
          <a:xfrm>
            <a:off x="5334000" y="25908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5410200" y="26670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d</a:t>
            </a:r>
          </a:p>
        </p:txBody>
      </p:sp>
      <p:sp>
        <p:nvSpPr>
          <p:cNvPr id="18448" name="Oval 16"/>
          <p:cNvSpPr>
            <a:spLocks noChangeArrowheads="1"/>
          </p:cNvSpPr>
          <p:nvPr/>
        </p:nvSpPr>
        <p:spPr bwMode="auto">
          <a:xfrm>
            <a:off x="54102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5486400" y="4343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f</a:t>
            </a:r>
          </a:p>
        </p:txBody>
      </p:sp>
      <p:sp>
        <p:nvSpPr>
          <p:cNvPr id="18450" name="Oval 18"/>
          <p:cNvSpPr>
            <a:spLocks noChangeArrowheads="1"/>
          </p:cNvSpPr>
          <p:nvPr/>
        </p:nvSpPr>
        <p:spPr bwMode="auto">
          <a:xfrm>
            <a:off x="7467600" y="4267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7543800" y="43434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g</a:t>
            </a:r>
          </a:p>
        </p:txBody>
      </p:sp>
      <p:sp>
        <p:nvSpPr>
          <p:cNvPr id="18452" name="Line 20"/>
          <p:cNvSpPr>
            <a:spLocks noChangeShapeType="1"/>
          </p:cNvSpPr>
          <p:nvPr/>
        </p:nvSpPr>
        <p:spPr bwMode="auto">
          <a:xfrm>
            <a:off x="1524000" y="3124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53" name="Line 21"/>
          <p:cNvSpPr>
            <a:spLocks noChangeShapeType="1"/>
          </p:cNvSpPr>
          <p:nvPr/>
        </p:nvSpPr>
        <p:spPr bwMode="auto">
          <a:xfrm>
            <a:off x="3581400" y="3124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54" name="Line 22"/>
          <p:cNvSpPr>
            <a:spLocks noChangeShapeType="1"/>
          </p:cNvSpPr>
          <p:nvPr/>
        </p:nvSpPr>
        <p:spPr bwMode="auto">
          <a:xfrm>
            <a:off x="5638800" y="3124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55" name="Line 23"/>
          <p:cNvSpPr>
            <a:spLocks noChangeShapeType="1"/>
          </p:cNvSpPr>
          <p:nvPr/>
        </p:nvSpPr>
        <p:spPr bwMode="auto">
          <a:xfrm>
            <a:off x="1752600" y="2819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56" name="Line 24"/>
          <p:cNvSpPr>
            <a:spLocks noChangeShapeType="1"/>
          </p:cNvSpPr>
          <p:nvPr/>
        </p:nvSpPr>
        <p:spPr bwMode="auto">
          <a:xfrm>
            <a:off x="3810000" y="28194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57" name="Line 25"/>
          <p:cNvSpPr>
            <a:spLocks noChangeShapeType="1"/>
          </p:cNvSpPr>
          <p:nvPr/>
        </p:nvSpPr>
        <p:spPr bwMode="auto">
          <a:xfrm>
            <a:off x="3886200" y="4495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58" name="Line 26"/>
          <p:cNvSpPr>
            <a:spLocks noChangeShapeType="1"/>
          </p:cNvSpPr>
          <p:nvPr/>
        </p:nvSpPr>
        <p:spPr bwMode="auto">
          <a:xfrm flipV="1">
            <a:off x="3810000" y="3048000"/>
            <a:ext cx="16002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59" name="Line 27"/>
          <p:cNvSpPr>
            <a:spLocks noChangeShapeType="1"/>
          </p:cNvSpPr>
          <p:nvPr/>
        </p:nvSpPr>
        <p:spPr bwMode="auto">
          <a:xfrm>
            <a:off x="5791200" y="3048000"/>
            <a:ext cx="16764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4" name="Text Box 28"/>
          <p:cNvSpPr txBox="1">
            <a:spLocks noChangeArrowheads="1"/>
          </p:cNvSpPr>
          <p:nvPr/>
        </p:nvSpPr>
        <p:spPr bwMode="auto">
          <a:xfrm>
            <a:off x="1143000" y="5867400"/>
            <a:ext cx="65166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/>
              <a:t>In this case, and with our algorithm, </a:t>
            </a:r>
            <a:r>
              <a:rPr lang="en-US" sz="2800">
                <a:solidFill>
                  <a:srgbClr val="FF0000"/>
                </a:solidFill>
              </a:rPr>
              <a:t>NO!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Analysis of Algorithm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Running time: </a:t>
            </a:r>
          </a:p>
          <a:p>
            <a:pPr lvl="1" eaLnBrk="1" hangingPunct="1"/>
            <a:r>
              <a:rPr lang="en-US" smtClean="0">
                <a:solidFill>
                  <a:srgbClr val="FF0000"/>
                </a:solidFill>
              </a:rPr>
              <a:t>O(V+E)</a:t>
            </a:r>
            <a:r>
              <a:rPr lang="en-US" smtClean="0"/>
              <a:t>:  if we use adjacency list.</a:t>
            </a:r>
          </a:p>
          <a:p>
            <a:pPr eaLnBrk="1" hangingPunct="1"/>
            <a:r>
              <a:rPr lang="en-US" smtClean="0"/>
              <a:t>2-Approximation Algorithm</a:t>
            </a:r>
          </a:p>
          <a:p>
            <a:pPr lvl="1" eaLnBrk="1" hangingPunct="1"/>
            <a:r>
              <a:rPr lang="en-US" smtClean="0"/>
              <a:t>Minimization problem C* = 3; C = 6</a:t>
            </a:r>
          </a:p>
          <a:p>
            <a:pPr lvl="1" eaLnBrk="1" hangingPunct="1"/>
            <a:r>
              <a:rPr lang="en-US" smtClean="0"/>
              <a:t>Factor = C/C* =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700" smtClean="0"/>
              <a:t>Theorem: APPROX-VERTEX-COVER is a polynomial-time 2-approximation algorithm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600" smtClean="0"/>
              <a:t>Proof:</a:t>
            </a:r>
          </a:p>
          <a:p>
            <a:pPr lvl="1" eaLnBrk="1" hangingPunct="1"/>
            <a:r>
              <a:rPr lang="en-US" sz="2200" smtClean="0"/>
              <a:t>Polynomial time algorithm because : Complexity = O(V+E)</a:t>
            </a:r>
          </a:p>
          <a:p>
            <a:pPr lvl="1" eaLnBrk="1" hangingPunct="1"/>
            <a:r>
              <a:rPr lang="en-US" sz="2200" smtClean="0"/>
              <a:t>Let, A = </a:t>
            </a:r>
            <a:r>
              <a:rPr lang="en-US" sz="2200" smtClean="0">
                <a:solidFill>
                  <a:srgbClr val="0000FF"/>
                </a:solidFill>
              </a:rPr>
              <a:t>set of edges</a:t>
            </a:r>
            <a:r>
              <a:rPr lang="en-US" sz="2200" smtClean="0"/>
              <a:t> picked by approximation algorithm</a:t>
            </a:r>
          </a:p>
          <a:p>
            <a:pPr lvl="1" eaLnBrk="1" hangingPunct="1"/>
            <a:r>
              <a:rPr lang="en-US" sz="2200" smtClean="0"/>
              <a:t>No 2 edges in </a:t>
            </a:r>
            <a:r>
              <a:rPr lang="en-US" sz="2200" smtClean="0">
                <a:solidFill>
                  <a:srgbClr val="0000FF"/>
                </a:solidFill>
              </a:rPr>
              <a:t>A</a:t>
            </a:r>
            <a:r>
              <a:rPr lang="en-US" sz="2200" smtClean="0"/>
              <a:t> share an endpoint. </a:t>
            </a:r>
          </a:p>
          <a:p>
            <a:pPr lvl="1" eaLnBrk="1" hangingPunct="1"/>
            <a:r>
              <a:rPr lang="en-US" sz="2200" smtClean="0"/>
              <a:t>Thus no 2 edges in A are covered by the same vertex in C*</a:t>
            </a:r>
          </a:p>
          <a:p>
            <a:pPr lvl="1" eaLnBrk="1" hangingPunct="1"/>
            <a:r>
              <a:rPr lang="en-US" sz="2200" b="1" smtClean="0"/>
              <a:t>So, Lower bound: 	|C*| &gt;= |A|</a:t>
            </a:r>
          </a:p>
          <a:p>
            <a:pPr lvl="1" eaLnBrk="1" hangingPunct="1"/>
            <a:r>
              <a:rPr lang="en-US" sz="2200" smtClean="0"/>
              <a:t>We pick an edge for which neither of its endpoints are already in C</a:t>
            </a:r>
          </a:p>
          <a:p>
            <a:pPr lvl="1" eaLnBrk="1" hangingPunct="1"/>
            <a:r>
              <a:rPr lang="en-US" sz="2200" b="1" smtClean="0"/>
              <a:t>So, Upper bound: 	|C| = 2|A|</a:t>
            </a:r>
          </a:p>
          <a:p>
            <a:pPr lvl="1" eaLnBrk="1" hangingPunct="1"/>
            <a:r>
              <a:rPr lang="en-US" sz="2200" b="1" smtClean="0"/>
              <a:t>Therefore: 	|C| = 2|A| &lt;= 2|C*|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685800"/>
            <a:ext cx="7620000" cy="2209800"/>
          </a:xfrm>
        </p:spPr>
        <p:txBody>
          <a:bodyPr/>
          <a:lstStyle/>
          <a:p>
            <a:pPr algn="ctr" eaLnBrk="1" hangingPunct="1"/>
            <a:r>
              <a:rPr lang="en-US" sz="4400" smtClean="0"/>
              <a:t/>
            </a:r>
            <a:br>
              <a:rPr lang="en-US" sz="4400" smtClean="0"/>
            </a:br>
            <a:r>
              <a:rPr lang="en-US" sz="4400" smtClean="0"/>
              <a:t> </a:t>
            </a:r>
            <a:br>
              <a:rPr lang="en-US" sz="4400" smtClean="0"/>
            </a:br>
            <a:r>
              <a:rPr lang="en-US" smtClean="0"/>
              <a:t>Traveling Salesman</a:t>
            </a:r>
            <a:endParaRPr lang="en-US" sz="400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352800"/>
            <a:ext cx="6781800" cy="2179638"/>
          </a:xfrm>
          <a:noFill/>
        </p:spPr>
        <p:txBody>
          <a:bodyPr lIns="92075" tIns="46038" rIns="92075" bIns="46038"/>
          <a:lstStyle/>
          <a:p>
            <a:pPr algn="ctr" eaLnBrk="1" hangingPunct="1">
              <a:lnSpc>
                <a:spcPct val="90000"/>
              </a:lnSpc>
            </a:pPr>
            <a:r>
              <a:rPr lang="en-US" u="sng" smtClean="0"/>
              <a:t>TSP with triangle inequality</a:t>
            </a:r>
          </a:p>
          <a:p>
            <a:pPr marL="693738" lvl="2" indent="0"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Polynomial-time 2-approximation algorithm</a:t>
            </a:r>
          </a:p>
          <a:p>
            <a:pPr marL="344488" lvl="1" indent="0"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3000" u="sng" smtClean="0"/>
              <a:t>TSP without triangle inequality</a:t>
            </a:r>
          </a:p>
          <a:p>
            <a:pPr marL="693738" lvl="2" indent="0"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Negative result on polynomial-time </a:t>
            </a:r>
            <a:r>
              <a:rPr lang="en-US" smtClean="0">
                <a:latin typeface="Symbol" pitchFamily="18" charset="2"/>
              </a:rPr>
              <a:t>r</a:t>
            </a:r>
            <a:r>
              <a:rPr lang="en-US" smtClean="0"/>
              <a:t>(n)-approximation algorithm</a:t>
            </a:r>
          </a:p>
          <a:p>
            <a:pPr eaLnBrk="1" hangingPunct="1">
              <a:lnSpc>
                <a:spcPct val="90000"/>
              </a:lnSpc>
            </a:pPr>
            <a:endParaRPr lang="en-US" sz="2000" b="1" smtClean="0"/>
          </a:p>
          <a:p>
            <a:pPr eaLnBrk="1" hangingPunct="1">
              <a:lnSpc>
                <a:spcPct val="85000"/>
              </a:lnSpc>
            </a:pPr>
            <a:endParaRPr lang="en-US" sz="2000" smtClean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traveling-salesperson problem.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Given a complete undirected graph G=(V,E)</a:t>
            </a:r>
          </a:p>
          <a:p>
            <a:pPr eaLnBrk="1" hangingPunct="1"/>
            <a:r>
              <a:rPr lang="en-US" smtClean="0"/>
              <a:t>Each edge has a nonnegative integer cost c(u,v)</a:t>
            </a:r>
          </a:p>
          <a:p>
            <a:pPr eaLnBrk="1" hangingPunct="1"/>
            <a:r>
              <a:rPr lang="en-US" smtClean="0"/>
              <a:t>Find a Hamiltonian cycle of G with minimum cost.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This is a NP complete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Triangle Inequality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The cost function satisfies the </a:t>
            </a:r>
            <a:r>
              <a:rPr lang="en-US" smtClean="0">
                <a:solidFill>
                  <a:srgbClr val="0000FF"/>
                </a:solidFill>
              </a:rPr>
              <a:t>triangle inequality</a:t>
            </a:r>
            <a:r>
              <a:rPr lang="en-US" smtClean="0"/>
              <a:t> for all vertices u, v, w in V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solidFill>
                  <a:srgbClr val="FF0000"/>
                </a:solidFill>
              </a:rPr>
              <a:t>c(u,w) &lt;= c(u,v) + c(v,w)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76287"/>
          </a:xfrm>
        </p:spPr>
        <p:txBody>
          <a:bodyPr/>
          <a:lstStyle/>
          <a:p>
            <a:pPr eaLnBrk="1" hangingPunct="1"/>
            <a:r>
              <a:rPr lang="en-US" smtClean="0"/>
              <a:t>TSP with Triangle Inequality</a:t>
            </a:r>
          </a:p>
        </p:txBody>
      </p:sp>
      <p:pic>
        <p:nvPicPr>
          <p:cNvPr id="2052" name="Picture 3" descr="Ch37_p1028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0288" y="1385888"/>
            <a:ext cx="5559425" cy="153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4" descr="ch37_1029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8225" y="2919413"/>
            <a:ext cx="5565775" cy="360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5324475" y="6542088"/>
            <a:ext cx="38131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i="1">
                <a:effectLst>
                  <a:outerShdw blurRad="38100" dist="38100" dir="2700000" algn="tl">
                    <a:srgbClr val="C0C0C0"/>
                  </a:outerShdw>
                </a:effectLst>
              </a:rPr>
              <a:t>source: 91.503 textbook Cormen et al.</a:t>
            </a:r>
          </a:p>
        </p:txBody>
      </p:sp>
      <p:grpSp>
        <p:nvGrpSpPr>
          <p:cNvPr id="2055" name="Group 6"/>
          <p:cNvGrpSpPr>
            <a:grpSpLocks/>
          </p:cNvGrpSpPr>
          <p:nvPr/>
        </p:nvGrpSpPr>
        <p:grpSpPr bwMode="auto">
          <a:xfrm>
            <a:off x="0" y="2057400"/>
            <a:ext cx="3563938" cy="4391025"/>
            <a:chOff x="0" y="1311"/>
            <a:chExt cx="2245" cy="2766"/>
          </a:xfrm>
        </p:grpSpPr>
        <p:sp>
          <p:nvSpPr>
            <p:cNvPr id="2059" name="Rectangle 7"/>
            <p:cNvSpPr>
              <a:spLocks noChangeArrowheads="1"/>
            </p:cNvSpPr>
            <p:nvPr/>
          </p:nvSpPr>
          <p:spPr bwMode="auto">
            <a:xfrm>
              <a:off x="0" y="1311"/>
              <a:ext cx="2245" cy="276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060" name="Picture 8" descr="503_959 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23" y="1439"/>
              <a:ext cx="1365" cy="12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29" name="Oval 9"/>
            <p:cNvSpPr>
              <a:spLocks noChangeArrowheads="1"/>
            </p:cNvSpPr>
            <p:nvPr/>
          </p:nvSpPr>
          <p:spPr bwMode="auto">
            <a:xfrm>
              <a:off x="502" y="1543"/>
              <a:ext cx="242" cy="2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 b="1" i="1">
                  <a:solidFill>
                    <a:schemeClr val="bg2"/>
                  </a:solidFill>
                </a:rPr>
                <a:t>u</a:t>
              </a:r>
              <a:endParaRPr lang="en-US" sz="140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81930" name="Oval 10"/>
            <p:cNvSpPr>
              <a:spLocks noChangeArrowheads="1"/>
            </p:cNvSpPr>
            <p:nvPr/>
          </p:nvSpPr>
          <p:spPr bwMode="auto">
            <a:xfrm>
              <a:off x="1306" y="1543"/>
              <a:ext cx="242" cy="2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 b="1" i="1">
                  <a:solidFill>
                    <a:schemeClr val="bg2"/>
                  </a:solidFill>
                </a:rPr>
                <a:t>v</a:t>
              </a:r>
              <a:endParaRPr lang="en-US" sz="140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81931" name="Oval 11"/>
            <p:cNvSpPr>
              <a:spLocks noChangeArrowheads="1"/>
            </p:cNvSpPr>
            <p:nvPr/>
          </p:nvSpPr>
          <p:spPr bwMode="auto">
            <a:xfrm>
              <a:off x="508" y="2335"/>
              <a:ext cx="242" cy="2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 b="1" i="1">
                  <a:solidFill>
                    <a:schemeClr val="bg2"/>
                  </a:solidFill>
                </a:rPr>
                <a:t>x</a:t>
              </a:r>
              <a:endParaRPr lang="en-US" sz="140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81932" name="Oval 12"/>
            <p:cNvSpPr>
              <a:spLocks noChangeArrowheads="1"/>
            </p:cNvSpPr>
            <p:nvPr/>
          </p:nvSpPr>
          <p:spPr bwMode="auto">
            <a:xfrm>
              <a:off x="1324" y="2335"/>
              <a:ext cx="260" cy="2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400" b="1" i="1">
                  <a:solidFill>
                    <a:schemeClr val="bg2"/>
                  </a:solidFill>
                </a:rPr>
                <a:t>w</a:t>
              </a:r>
              <a:endParaRPr lang="en-US" sz="140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graphicFrame>
          <p:nvGraphicFramePr>
            <p:cNvPr id="2050" name="Object 13"/>
            <p:cNvGraphicFramePr>
              <a:graphicFrameLocks noChangeAspect="1"/>
            </p:cNvGraphicFramePr>
            <p:nvPr/>
          </p:nvGraphicFramePr>
          <p:xfrm>
            <a:off x="90" y="3381"/>
            <a:ext cx="2102" cy="593"/>
          </p:xfrm>
          <a:graphic>
            <a:graphicData uri="http://schemas.openxmlformats.org/presentationml/2006/ole">
              <p:oleObj spid="_x0000_s2050" name="Equation" r:id="rId6" imgW="1523880" imgH="431640" progId="Equation.3">
                <p:embed/>
              </p:oleObj>
            </a:graphicData>
          </a:graphic>
        </p:graphicFrame>
        <p:sp>
          <p:nvSpPr>
            <p:cNvPr id="81934" name="Text Box 14"/>
            <p:cNvSpPr txBox="1">
              <a:spLocks noChangeArrowheads="1"/>
            </p:cNvSpPr>
            <p:nvPr/>
          </p:nvSpPr>
          <p:spPr bwMode="auto">
            <a:xfrm>
              <a:off x="222" y="3008"/>
              <a:ext cx="169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2400">
                  <a:solidFill>
                    <a:srgbClr val="00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Triangle Inequality</a:t>
              </a:r>
              <a:endParaRPr 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1935" name="Text Box 15"/>
            <p:cNvSpPr txBox="1">
              <a:spLocks noChangeArrowheads="1"/>
            </p:cNvSpPr>
            <p:nvPr/>
          </p:nvSpPr>
          <p:spPr bwMode="auto">
            <a:xfrm>
              <a:off x="262" y="2793"/>
              <a:ext cx="19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2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Cost Function Satisfies</a:t>
              </a:r>
            </a:p>
          </p:txBody>
        </p:sp>
        <p:sp>
          <p:nvSpPr>
            <p:cNvPr id="2067" name="Text Box 16"/>
            <p:cNvSpPr txBox="1">
              <a:spLocks noChangeArrowheads="1"/>
            </p:cNvSpPr>
            <p:nvPr/>
          </p:nvSpPr>
          <p:spPr bwMode="auto">
            <a:xfrm>
              <a:off x="414" y="1953"/>
              <a:ext cx="16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2068" name="Text Box 17"/>
            <p:cNvSpPr txBox="1">
              <a:spLocks noChangeArrowheads="1"/>
            </p:cNvSpPr>
            <p:nvPr/>
          </p:nvSpPr>
          <p:spPr bwMode="auto">
            <a:xfrm>
              <a:off x="1455" y="1941"/>
              <a:ext cx="16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2069" name="Text Box 18"/>
            <p:cNvSpPr txBox="1">
              <a:spLocks noChangeArrowheads="1"/>
            </p:cNvSpPr>
            <p:nvPr/>
          </p:nvSpPr>
          <p:spPr bwMode="auto">
            <a:xfrm>
              <a:off x="966" y="2469"/>
              <a:ext cx="16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>
                  <a:solidFill>
                    <a:schemeClr val="bg2"/>
                  </a:solidFill>
                </a:rPr>
                <a:t>4</a:t>
              </a:r>
            </a:p>
          </p:txBody>
        </p:sp>
        <p:sp>
          <p:nvSpPr>
            <p:cNvPr id="2070" name="Text Box 19"/>
            <p:cNvSpPr txBox="1">
              <a:spLocks noChangeArrowheads="1"/>
            </p:cNvSpPr>
            <p:nvPr/>
          </p:nvSpPr>
          <p:spPr bwMode="auto">
            <a:xfrm>
              <a:off x="909" y="1710"/>
              <a:ext cx="16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2071" name="Text Box 20"/>
            <p:cNvSpPr txBox="1">
              <a:spLocks noChangeArrowheads="1"/>
            </p:cNvSpPr>
            <p:nvPr/>
          </p:nvSpPr>
          <p:spPr bwMode="auto">
            <a:xfrm>
              <a:off x="897" y="2238"/>
              <a:ext cx="16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400" b="1">
                  <a:solidFill>
                    <a:schemeClr val="bg2"/>
                  </a:solidFill>
                </a:rPr>
                <a:t>5</a:t>
              </a:r>
            </a:p>
          </p:txBody>
        </p:sp>
      </p:grpSp>
      <p:sp>
        <p:nvSpPr>
          <p:cNvPr id="81941" name="Text Box 21"/>
          <p:cNvSpPr txBox="1">
            <a:spLocks noChangeArrowheads="1"/>
          </p:cNvSpPr>
          <p:nvPr/>
        </p:nvSpPr>
        <p:spPr bwMode="auto">
          <a:xfrm>
            <a:off x="3552825" y="6289675"/>
            <a:ext cx="2257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final approximate tour</a:t>
            </a:r>
          </a:p>
        </p:txBody>
      </p:sp>
      <p:sp>
        <p:nvSpPr>
          <p:cNvPr id="81942" name="Text Box 22"/>
          <p:cNvSpPr txBox="1">
            <a:spLocks noChangeArrowheads="1"/>
          </p:cNvSpPr>
          <p:nvPr/>
        </p:nvSpPr>
        <p:spPr bwMode="auto">
          <a:xfrm>
            <a:off x="5810250" y="6280150"/>
            <a:ext cx="22574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optimal tour</a:t>
            </a:r>
          </a:p>
        </p:txBody>
      </p:sp>
      <p:sp>
        <p:nvSpPr>
          <p:cNvPr id="81943" name="Text Box 23"/>
          <p:cNvSpPr txBox="1">
            <a:spLocks noChangeArrowheads="1"/>
          </p:cNvSpPr>
          <p:nvPr/>
        </p:nvSpPr>
        <p:spPr bwMode="auto">
          <a:xfrm>
            <a:off x="6286500" y="4537075"/>
            <a:ext cx="30099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“full walk” = abcbhbadefegeda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1000" y="0"/>
          <a:ext cx="7315200" cy="6553200"/>
        </p:xfrm>
        <a:graphic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</a:tblGrid>
              <a:tr h="31127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44043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0962" name="Picture 2" descr="D:\3rdyear\tsp-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28600"/>
            <a:ext cx="2695951" cy="2514951"/>
          </a:xfrm>
          <a:prstGeom prst="rect">
            <a:avLst/>
          </a:prstGeom>
          <a:noFill/>
        </p:spPr>
      </p:pic>
      <p:pic>
        <p:nvPicPr>
          <p:cNvPr id="40963" name="Picture 3" descr="D:\3rdyear\tsp-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228600"/>
            <a:ext cx="2581275" cy="2657475"/>
          </a:xfrm>
          <a:prstGeom prst="rect">
            <a:avLst/>
          </a:prstGeom>
          <a:noFill/>
        </p:spPr>
      </p:pic>
      <p:pic>
        <p:nvPicPr>
          <p:cNvPr id="40964" name="Picture 4" descr="D:\3rdyear\tsp-3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8200" y="3200400"/>
            <a:ext cx="2610214" cy="2419688"/>
          </a:xfrm>
          <a:prstGeom prst="rect">
            <a:avLst/>
          </a:prstGeom>
          <a:noFill/>
        </p:spPr>
      </p:pic>
      <p:pic>
        <p:nvPicPr>
          <p:cNvPr id="40965" name="Picture 5" descr="D:\3rdyear\tsp-4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19600" y="3124200"/>
            <a:ext cx="2486025" cy="25717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TSP with Triangle Inequality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Time Complexity:</a:t>
            </a:r>
          </a:p>
          <a:p>
            <a:pPr lvl="1" eaLnBrk="1" hangingPunct="1"/>
            <a:r>
              <a:rPr lang="en-US" smtClean="0"/>
              <a:t>MST-Prim()’s running time: O(V</a:t>
            </a:r>
            <a:r>
              <a:rPr lang="en-US" baseline="30000" smtClean="0"/>
              <a:t>2</a:t>
            </a:r>
            <a:r>
              <a:rPr lang="en-US" smtClean="0"/>
              <a:t>)</a:t>
            </a:r>
          </a:p>
          <a:p>
            <a:pPr lvl="1" eaLnBrk="1" hangingPunct="1"/>
            <a:r>
              <a:rPr lang="en-US" smtClean="0"/>
              <a:t>So, APPROX-TSP-TOUR’s running time:</a:t>
            </a:r>
            <a:r>
              <a:rPr lang="en-US" smtClean="0">
                <a:solidFill>
                  <a:srgbClr val="FF0000"/>
                </a:solidFill>
              </a:rPr>
              <a:t> O(V</a:t>
            </a:r>
            <a:r>
              <a:rPr lang="en-US" baseline="30000" smtClean="0">
                <a:solidFill>
                  <a:srgbClr val="FF0000"/>
                </a:solidFill>
              </a:rPr>
              <a:t>2</a:t>
            </a:r>
            <a:r>
              <a:rPr lang="en-US" smtClean="0">
                <a:solidFill>
                  <a:srgbClr val="FF0000"/>
                </a:solidFill>
              </a:rPr>
              <a:t>)</a:t>
            </a:r>
          </a:p>
          <a:p>
            <a:pPr lvl="1"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76287"/>
          </a:xfrm>
        </p:spPr>
        <p:txBody>
          <a:bodyPr/>
          <a:lstStyle/>
          <a:p>
            <a:pPr eaLnBrk="1" hangingPunct="1"/>
            <a:r>
              <a:rPr lang="en-US" smtClean="0"/>
              <a:t>TSP with Triangle Inequality</a:t>
            </a:r>
          </a:p>
        </p:txBody>
      </p:sp>
      <p:sp>
        <p:nvSpPr>
          <p:cNvPr id="3082" name="Text Box 3"/>
          <p:cNvSpPr txBox="1">
            <a:spLocks noChangeArrowheads="1"/>
          </p:cNvSpPr>
          <p:nvPr/>
        </p:nvSpPr>
        <p:spPr bwMode="auto">
          <a:xfrm>
            <a:off x="533400" y="1447800"/>
            <a:ext cx="8399463" cy="527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2000" b="1" i="1" u="sng">
                <a:solidFill>
                  <a:srgbClr val="FF0000"/>
                </a:solidFill>
              </a:rPr>
              <a:t>Theorem</a:t>
            </a:r>
            <a:r>
              <a:rPr lang="en-US" sz="2000" b="1" i="1">
                <a:solidFill>
                  <a:srgbClr val="FF0000"/>
                </a:solidFill>
              </a:rPr>
              <a:t>:</a:t>
            </a:r>
            <a:r>
              <a:rPr lang="en-US" sz="2000" i="1">
                <a:solidFill>
                  <a:srgbClr val="FF0000"/>
                </a:solidFill>
              </a:rPr>
              <a:t>  </a:t>
            </a:r>
            <a:r>
              <a:rPr lang="en-US" sz="2000" b="1" i="1">
                <a:solidFill>
                  <a:srgbClr val="FF0000"/>
                </a:solidFill>
              </a:rPr>
              <a:t>APPROX-TSP-TOUR</a:t>
            </a:r>
            <a:r>
              <a:rPr lang="en-US" sz="2000" i="1">
                <a:solidFill>
                  <a:srgbClr val="FF0000"/>
                </a:solidFill>
              </a:rPr>
              <a:t> is a </a:t>
            </a:r>
            <a:r>
              <a:rPr lang="en-US" sz="2000" b="1" i="1">
                <a:solidFill>
                  <a:srgbClr val="FF0000"/>
                </a:solidFill>
              </a:rPr>
              <a:t>polynomial-time 2-approximation algorithm for TSP with triangle inequality</a:t>
            </a:r>
            <a:r>
              <a:rPr lang="en-US" sz="2000" i="1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083" name="Text Box 4"/>
          <p:cNvSpPr txBox="1">
            <a:spLocks noChangeArrowheads="1"/>
          </p:cNvSpPr>
          <p:nvPr/>
        </p:nvSpPr>
        <p:spPr bwMode="auto">
          <a:xfrm>
            <a:off x="452438" y="2667000"/>
            <a:ext cx="11430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70000"/>
              </a:lnSpc>
              <a:spcBef>
                <a:spcPct val="50000"/>
              </a:spcBef>
            </a:pPr>
            <a:r>
              <a:rPr lang="en-US" sz="2400" b="1" i="1" u="sng">
                <a:solidFill>
                  <a:schemeClr val="bg2"/>
                </a:solidFill>
              </a:rPr>
              <a:t>Proof</a:t>
            </a:r>
            <a:r>
              <a:rPr lang="en-US" sz="2400" b="1" i="1">
                <a:solidFill>
                  <a:schemeClr val="bg2"/>
                </a:solidFill>
              </a:rPr>
              <a:t>:</a:t>
            </a:r>
            <a:endParaRPr lang="en-US" sz="2400" i="1">
              <a:solidFill>
                <a:schemeClr val="bg2"/>
              </a:solidFill>
            </a:endParaRPr>
          </a:p>
        </p:txBody>
      </p:sp>
      <p:graphicFrame>
        <p:nvGraphicFramePr>
          <p:cNvPr id="82949" name="Object 5"/>
          <p:cNvGraphicFramePr>
            <a:graphicFrameLocks noChangeAspect="1"/>
          </p:cNvGraphicFramePr>
          <p:nvPr/>
        </p:nvGraphicFramePr>
        <p:xfrm>
          <a:off x="493713" y="3552825"/>
          <a:ext cx="1898650" cy="449263"/>
        </p:xfrm>
        <a:graphic>
          <a:graphicData uri="http://schemas.openxmlformats.org/presentationml/2006/ole">
            <p:oleObj spid="_x0000_s3074" name="Microsoft Equation 3.0" r:id="rId3" imgW="850680" imgH="203040" progId="Equation.3">
              <p:embed/>
            </p:oleObj>
          </a:graphicData>
        </a:graphic>
      </p:graphicFrame>
      <p:graphicFrame>
        <p:nvGraphicFramePr>
          <p:cNvPr id="82950" name="Object 6"/>
          <p:cNvGraphicFramePr>
            <a:graphicFrameLocks noChangeAspect="1"/>
          </p:cNvGraphicFramePr>
          <p:nvPr/>
        </p:nvGraphicFramePr>
        <p:xfrm>
          <a:off x="390525" y="4371975"/>
          <a:ext cx="1755775" cy="409575"/>
        </p:xfrm>
        <a:graphic>
          <a:graphicData uri="http://schemas.openxmlformats.org/presentationml/2006/ole">
            <p:oleObj spid="_x0000_s3075" name="Microsoft Equation 3.0" r:id="rId4" imgW="863280" imgH="203040" progId="Equation.3">
              <p:embed/>
            </p:oleObj>
          </a:graphicData>
        </a:graphic>
      </p:graphicFrame>
      <p:graphicFrame>
        <p:nvGraphicFramePr>
          <p:cNvPr id="82951" name="Object 7"/>
          <p:cNvGraphicFramePr>
            <a:graphicFrameLocks noChangeAspect="1"/>
          </p:cNvGraphicFramePr>
          <p:nvPr/>
        </p:nvGraphicFramePr>
        <p:xfrm>
          <a:off x="790575" y="5002213"/>
          <a:ext cx="1952625" cy="407987"/>
        </p:xfrm>
        <a:graphic>
          <a:graphicData uri="http://schemas.openxmlformats.org/presentationml/2006/ole">
            <p:oleObj spid="_x0000_s3076" name="Microsoft Equation 3.0" r:id="rId5" imgW="965160" imgH="203040" progId="Equation.3">
              <p:embed/>
            </p:oleObj>
          </a:graphicData>
        </a:graphic>
      </p:graphicFrame>
      <p:graphicFrame>
        <p:nvGraphicFramePr>
          <p:cNvPr id="82952" name="Object 8"/>
          <p:cNvGraphicFramePr>
            <a:graphicFrameLocks noChangeAspect="1"/>
          </p:cNvGraphicFramePr>
          <p:nvPr/>
        </p:nvGraphicFramePr>
        <p:xfrm>
          <a:off x="595313" y="5411788"/>
          <a:ext cx="1703387" cy="415925"/>
        </p:xfrm>
        <a:graphic>
          <a:graphicData uri="http://schemas.openxmlformats.org/presentationml/2006/ole">
            <p:oleObj spid="_x0000_s3077" name="Microsoft Equation 3.0" r:id="rId6" imgW="825480" imgH="203040" progId="Equation.3">
              <p:embed/>
            </p:oleObj>
          </a:graphicData>
        </a:graphic>
      </p:graphicFrame>
      <p:graphicFrame>
        <p:nvGraphicFramePr>
          <p:cNvPr id="82953" name="Object 9"/>
          <p:cNvGraphicFramePr>
            <a:graphicFrameLocks noChangeAspect="1"/>
          </p:cNvGraphicFramePr>
          <p:nvPr/>
        </p:nvGraphicFramePr>
        <p:xfrm>
          <a:off x="1004888" y="6126163"/>
          <a:ext cx="2509837" cy="523875"/>
        </p:xfrm>
        <a:graphic>
          <a:graphicData uri="http://schemas.openxmlformats.org/presentationml/2006/ole">
            <p:oleObj spid="_x0000_s3078" name="Microsoft Equation 3.0" r:id="rId7" imgW="965160" imgH="203040" progId="Equation.3">
              <p:embed/>
            </p:oleObj>
          </a:graphicData>
        </a:graphic>
      </p:graphicFrame>
      <p:sp>
        <p:nvSpPr>
          <p:cNvPr id="82954" name="Text Box 10"/>
          <p:cNvSpPr txBox="1">
            <a:spLocks noChangeArrowheads="1"/>
          </p:cNvSpPr>
          <p:nvPr/>
        </p:nvSpPr>
        <p:spPr bwMode="auto">
          <a:xfrm>
            <a:off x="1776413" y="2689225"/>
            <a:ext cx="3652837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>
                <a:solidFill>
                  <a:schemeClr val="bg2"/>
                </a:solidFill>
              </a:rPr>
              <a:t>Algorithm runs in time polynomial in </a:t>
            </a:r>
            <a:r>
              <a:rPr lang="en-US" sz="1600" i="1">
                <a:solidFill>
                  <a:schemeClr val="bg2"/>
                </a:solidFill>
              </a:rPr>
              <a:t>n</a:t>
            </a:r>
            <a:r>
              <a:rPr lang="en-US" sz="1600">
                <a:solidFill>
                  <a:schemeClr val="bg2"/>
                </a:solidFill>
              </a:rPr>
              <a:t>.</a:t>
            </a:r>
          </a:p>
        </p:txBody>
      </p:sp>
      <p:graphicFrame>
        <p:nvGraphicFramePr>
          <p:cNvPr id="82955" name="Object 11"/>
          <p:cNvGraphicFramePr>
            <a:graphicFrameLocks noChangeAspect="1"/>
          </p:cNvGraphicFramePr>
          <p:nvPr/>
        </p:nvGraphicFramePr>
        <p:xfrm>
          <a:off x="509588" y="3149600"/>
          <a:ext cx="4765675" cy="384175"/>
        </p:xfrm>
        <a:graphic>
          <a:graphicData uri="http://schemas.openxmlformats.org/presentationml/2006/ole">
            <p:oleObj spid="_x0000_s3079" name="Microsoft Equation 3.0" r:id="rId8" imgW="2514600" imgH="203040" progId="Equation.3">
              <p:embed/>
            </p:oleObj>
          </a:graphicData>
        </a:graphic>
      </p:graphicFrame>
      <p:sp>
        <p:nvSpPr>
          <p:cNvPr id="82956" name="Text Box 12"/>
          <p:cNvSpPr txBox="1">
            <a:spLocks noChangeArrowheads="1"/>
          </p:cNvSpPr>
          <p:nvPr/>
        </p:nvSpPr>
        <p:spPr bwMode="auto">
          <a:xfrm>
            <a:off x="3057525" y="3962400"/>
            <a:ext cx="608647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 b="1">
                <a:solidFill>
                  <a:schemeClr val="accent2"/>
                </a:solidFill>
              </a:rPr>
              <a:t>(lists vertices when they are first visited and when returned to after visiting subtree)</a:t>
            </a:r>
          </a:p>
        </p:txBody>
      </p:sp>
      <p:graphicFrame>
        <p:nvGraphicFramePr>
          <p:cNvPr id="82957" name="Object 13"/>
          <p:cNvGraphicFramePr>
            <a:graphicFrameLocks noChangeAspect="1"/>
          </p:cNvGraphicFramePr>
          <p:nvPr/>
        </p:nvGraphicFramePr>
        <p:xfrm>
          <a:off x="85725" y="4025900"/>
          <a:ext cx="2960688" cy="334963"/>
        </p:xfrm>
        <a:graphic>
          <a:graphicData uri="http://schemas.openxmlformats.org/presentationml/2006/ole">
            <p:oleObj spid="_x0000_s3080" name="Microsoft Equation 3.0" r:id="rId9" imgW="1562040" imgH="177480" progId="Equation.3">
              <p:embed/>
            </p:oleObj>
          </a:graphicData>
        </a:graphic>
      </p:graphicFrame>
      <p:sp>
        <p:nvSpPr>
          <p:cNvPr id="82958" name="Text Box 14"/>
          <p:cNvSpPr txBox="1">
            <a:spLocks noChangeArrowheads="1"/>
          </p:cNvSpPr>
          <p:nvPr/>
        </p:nvSpPr>
        <p:spPr bwMode="auto">
          <a:xfrm>
            <a:off x="2466975" y="3622675"/>
            <a:ext cx="5286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 b="1">
                <a:solidFill>
                  <a:schemeClr val="accent2"/>
                </a:solidFill>
              </a:rPr>
              <a:t>(since deleting 1 edge from a tour creates a spanning tree)</a:t>
            </a:r>
          </a:p>
        </p:txBody>
      </p:sp>
      <p:sp>
        <p:nvSpPr>
          <p:cNvPr id="82959" name="Text Box 15"/>
          <p:cNvSpPr txBox="1">
            <a:spLocks noChangeArrowheads="1"/>
          </p:cNvSpPr>
          <p:nvPr/>
        </p:nvSpPr>
        <p:spPr bwMode="auto">
          <a:xfrm>
            <a:off x="2247900" y="4432300"/>
            <a:ext cx="5286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 b="1">
                <a:solidFill>
                  <a:schemeClr val="accent2"/>
                </a:solidFill>
              </a:rPr>
              <a:t>(since full walk traverses each edge of T twice)</a:t>
            </a:r>
          </a:p>
        </p:txBody>
      </p:sp>
      <p:sp>
        <p:nvSpPr>
          <p:cNvPr id="82960" name="Line 16"/>
          <p:cNvSpPr>
            <a:spLocks noChangeShapeType="1"/>
          </p:cNvSpPr>
          <p:nvPr/>
        </p:nvSpPr>
        <p:spPr bwMode="auto">
          <a:xfrm flipH="1">
            <a:off x="1905000" y="3810000"/>
            <a:ext cx="85725" cy="12192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961" name="Line 17"/>
          <p:cNvSpPr>
            <a:spLocks noChangeShapeType="1"/>
          </p:cNvSpPr>
          <p:nvPr/>
        </p:nvSpPr>
        <p:spPr bwMode="auto">
          <a:xfrm>
            <a:off x="681038" y="4745038"/>
            <a:ext cx="542925" cy="242887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962" name="Text Box 18"/>
          <p:cNvSpPr txBox="1">
            <a:spLocks noChangeArrowheads="1"/>
          </p:cNvSpPr>
          <p:nvPr/>
        </p:nvSpPr>
        <p:spPr bwMode="auto">
          <a:xfrm>
            <a:off x="3076575" y="5199063"/>
            <a:ext cx="5286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 b="1">
                <a:solidFill>
                  <a:schemeClr val="accent2"/>
                </a:solidFill>
              </a:rPr>
              <a:t>Now make W into a tour H using triangle inequality.</a:t>
            </a:r>
          </a:p>
        </p:txBody>
      </p:sp>
      <p:sp>
        <p:nvSpPr>
          <p:cNvPr id="82963" name="Text Box 19"/>
          <p:cNvSpPr txBox="1">
            <a:spLocks noChangeArrowheads="1"/>
          </p:cNvSpPr>
          <p:nvPr/>
        </p:nvSpPr>
        <p:spPr bwMode="auto">
          <a:xfrm>
            <a:off x="2286000" y="5441950"/>
            <a:ext cx="685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400" b="1">
                <a:solidFill>
                  <a:schemeClr val="accent2"/>
                </a:solidFill>
              </a:rPr>
              <a:t>(New inequality holds since H is formed by deleting duplicate vertices from W.)</a:t>
            </a:r>
          </a:p>
        </p:txBody>
      </p:sp>
      <p:sp>
        <p:nvSpPr>
          <p:cNvPr id="82964" name="Line 20"/>
          <p:cNvSpPr>
            <a:spLocks noChangeShapeType="1"/>
          </p:cNvSpPr>
          <p:nvPr/>
        </p:nvSpPr>
        <p:spPr bwMode="auto">
          <a:xfrm flipH="1">
            <a:off x="2252663" y="5330825"/>
            <a:ext cx="342900" cy="757238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2965" name="Line 21"/>
          <p:cNvSpPr>
            <a:spLocks noChangeShapeType="1"/>
          </p:cNvSpPr>
          <p:nvPr/>
        </p:nvSpPr>
        <p:spPr bwMode="auto">
          <a:xfrm>
            <a:off x="1033463" y="5854700"/>
            <a:ext cx="542925" cy="242888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4" grpId="0" animBg="1"/>
      <p:bldP spid="82956" grpId="0"/>
      <p:bldP spid="82958" grpId="0"/>
      <p:bldP spid="82959" grpId="0"/>
      <p:bldP spid="82960" grpId="0" animBg="1"/>
      <p:bldP spid="82961" grpId="0" animBg="1"/>
      <p:bldP spid="82963" grpId="0"/>
      <p:bldP spid="82964" grpId="0" animBg="1"/>
      <p:bldP spid="8296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TSP without Triangle Inequality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If P </a:t>
            </a:r>
            <a:r>
              <a:rPr lang="en-US" smtClean="0">
                <a:cs typeface="Arial" charset="0"/>
              </a:rPr>
              <a:t>≠ NP, then for any constant </a:t>
            </a:r>
            <a:r>
              <a:rPr lang="el-GR" smtClean="0">
                <a:cs typeface="Arial" charset="0"/>
              </a:rPr>
              <a:t>ρ≥</a:t>
            </a:r>
            <a:r>
              <a:rPr lang="en-US" smtClean="0">
                <a:cs typeface="Arial" charset="0"/>
              </a:rPr>
              <a:t>1, there is no polynomial time approximation algorithm with approximation ratio </a:t>
            </a:r>
            <a:r>
              <a:rPr lang="el-GR" smtClean="0">
                <a:cs typeface="Arial" charset="0"/>
              </a:rPr>
              <a:t>ρ</a:t>
            </a:r>
            <a:r>
              <a:rPr lang="en-US" smtClean="0">
                <a:cs typeface="Arial" charset="0"/>
              </a:rPr>
              <a:t> for the general traveling-salesman problem</a:t>
            </a:r>
          </a:p>
          <a:p>
            <a:pPr eaLnBrk="1" hangingPunct="1"/>
            <a:r>
              <a:rPr lang="en-US" smtClean="0">
                <a:cs typeface="Arial" charset="0"/>
              </a:rPr>
              <a:t>Prove: try yourself</a:t>
            </a:r>
            <a:endParaRPr lang="el-GR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958</TotalTime>
  <Words>907</Words>
  <Application>Microsoft PowerPoint</Application>
  <PresentationFormat>On-screen Show (4:3)</PresentationFormat>
  <Paragraphs>195</Paragraphs>
  <Slides>24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Network</vt:lpstr>
      <vt:lpstr>Equation</vt:lpstr>
      <vt:lpstr>Microsoft Equation 3.0</vt:lpstr>
      <vt:lpstr>Approximation Algorithms</vt:lpstr>
      <vt:lpstr>Motivation: Getting around NP-completeness</vt:lpstr>
      <vt:lpstr>Performance Ratios</vt:lpstr>
      <vt:lpstr>Performance Ratios [cont.]</vt:lpstr>
      <vt:lpstr>Definitions</vt:lpstr>
      <vt:lpstr>How do approximations algorithms work?</vt:lpstr>
      <vt:lpstr>Overview </vt:lpstr>
      <vt:lpstr>The vertex-cover problem</vt:lpstr>
      <vt:lpstr>The vertex-cover problem [cont.]</vt:lpstr>
      <vt:lpstr>Consider the graph:</vt:lpstr>
      <vt:lpstr>Approx-Vertex-Cover (G)</vt:lpstr>
      <vt:lpstr>Back to our graph:</vt:lpstr>
      <vt:lpstr>Improved version:</vt:lpstr>
      <vt:lpstr>Is it possible to approximate the optimal solution?</vt:lpstr>
      <vt:lpstr>Analysis of Algorithm</vt:lpstr>
      <vt:lpstr>Theorem: APPROX-VERTEX-COVER is a polynomial-time 2-approximation algorithm</vt:lpstr>
      <vt:lpstr>   Traveling Salesman</vt:lpstr>
      <vt:lpstr>The traveling-salesperson problem.</vt:lpstr>
      <vt:lpstr>Triangle Inequality</vt:lpstr>
      <vt:lpstr>TSP with Triangle Inequality</vt:lpstr>
      <vt:lpstr>Slide 21</vt:lpstr>
      <vt:lpstr>TSP with Triangle Inequality</vt:lpstr>
      <vt:lpstr>TSP with Triangle Inequality</vt:lpstr>
      <vt:lpstr>TSP without Triangle Inequality</vt:lpstr>
    </vt:vector>
  </TitlesOfParts>
  <Company>Montana State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Ashish Kapoor</dc:creator>
  <cp:lastModifiedBy>acer</cp:lastModifiedBy>
  <cp:revision>87</cp:revision>
  <dcterms:created xsi:type="dcterms:W3CDTF">2004-04-19T00:16:39Z</dcterms:created>
  <dcterms:modified xsi:type="dcterms:W3CDTF">2018-10-28T15:00:41Z</dcterms:modified>
</cp:coreProperties>
</file>