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3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2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2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2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3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3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9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8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7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C1206-B355-4345-9918-13F901F6A62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343B3-77D3-4ADE-8CAB-4268858D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0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String Matching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Md. </a:t>
            </a:r>
            <a:r>
              <a:rPr lang="en-US" dirty="0" err="1" smtClean="0"/>
              <a:t>Rezaul</a:t>
            </a:r>
            <a:r>
              <a:rPr lang="en-US" dirty="0" smtClean="0"/>
              <a:t> Karim</a:t>
            </a:r>
          </a:p>
          <a:p>
            <a:r>
              <a:rPr lang="en-US" dirty="0" smtClean="0"/>
              <a:t>CSE 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15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matching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 </a:t>
            </a:r>
            <a:r>
              <a:rPr lang="en-US" dirty="0"/>
              <a:t>We assume that </a:t>
            </a:r>
            <a:r>
              <a:rPr lang="en-US" dirty="0" smtClean="0"/>
              <a:t>the text </a:t>
            </a:r>
            <a:r>
              <a:rPr lang="en-US" dirty="0"/>
              <a:t>is an array </a:t>
            </a:r>
            <a:r>
              <a:rPr lang="en-US" dirty="0" smtClean="0"/>
              <a:t>T[1..n] </a:t>
            </a:r>
            <a:r>
              <a:rPr lang="en-US" dirty="0"/>
              <a:t>of length n and that the pattern is an array </a:t>
            </a:r>
            <a:r>
              <a:rPr lang="en-US" dirty="0" smtClean="0"/>
              <a:t>P[1..m] of </a:t>
            </a:r>
            <a:r>
              <a:rPr lang="en-US" dirty="0"/>
              <a:t>length </a:t>
            </a:r>
            <a:r>
              <a:rPr lang="en-US" dirty="0" smtClean="0"/>
              <a:t>m&lt;=n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We </a:t>
            </a:r>
            <a:r>
              <a:rPr lang="en-US" dirty="0"/>
              <a:t>further assume that the elements of P and T are </a:t>
            </a:r>
            <a:r>
              <a:rPr lang="en-US" dirty="0" smtClean="0"/>
              <a:t>characters drawn </a:t>
            </a:r>
            <a:r>
              <a:rPr lang="en-US" dirty="0"/>
              <a:t>from a finite alphabet </a:t>
            </a:r>
            <a:r>
              <a:rPr lang="en-US" dirty="0" smtClean="0">
                <a:sym typeface="Symbol" panose="05050102010706020507" pitchFamily="18" charset="2"/>
              </a:rPr>
              <a:t></a:t>
            </a:r>
            <a:r>
              <a:rPr lang="en-US" dirty="0" smtClean="0"/>
              <a:t>. 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For </a:t>
            </a:r>
            <a:r>
              <a:rPr lang="en-US" dirty="0"/>
              <a:t>example, we may have </a:t>
            </a:r>
            <a:r>
              <a:rPr lang="en-US" dirty="0" smtClean="0">
                <a:sym typeface="Symbol" panose="05050102010706020507" pitchFamily="18" charset="2"/>
              </a:rPr>
              <a:t>={0</a:t>
            </a:r>
            <a:r>
              <a:rPr lang="en-US" dirty="0" smtClean="0"/>
              <a:t>,1} or </a:t>
            </a:r>
            <a:r>
              <a:rPr lang="en-US" dirty="0" smtClean="0">
                <a:sym typeface="Symbol" panose="05050102010706020507" pitchFamily="18" charset="2"/>
              </a:rPr>
              <a:t>={</a:t>
            </a:r>
            <a:r>
              <a:rPr lang="en-US" dirty="0" smtClean="0"/>
              <a:t>a</a:t>
            </a:r>
            <a:r>
              <a:rPr lang="en-US" dirty="0"/>
              <a:t>,</a:t>
            </a:r>
            <a:r>
              <a:rPr lang="en-US" dirty="0" smtClean="0"/>
              <a:t> b, …., z}. 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The </a:t>
            </a:r>
            <a:r>
              <a:rPr lang="en-US" dirty="0"/>
              <a:t>character arrays P and T are often called </a:t>
            </a:r>
            <a:r>
              <a:rPr lang="en-US" b="1" i="1" dirty="0"/>
              <a:t>strings </a:t>
            </a:r>
            <a:r>
              <a:rPr lang="en-US" dirty="0" smtClean="0"/>
              <a:t>of characters.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3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matching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we </a:t>
            </a:r>
            <a:r>
              <a:rPr lang="en-US" dirty="0"/>
              <a:t>say that pattern P </a:t>
            </a:r>
            <a:r>
              <a:rPr lang="en-US" b="1" i="1" dirty="0"/>
              <a:t>occurs with shift </a:t>
            </a:r>
            <a:r>
              <a:rPr lang="en-US" dirty="0"/>
              <a:t>s in text </a:t>
            </a:r>
            <a:r>
              <a:rPr lang="en-US" dirty="0" smtClean="0"/>
              <a:t>T (</a:t>
            </a:r>
            <a:r>
              <a:rPr lang="en-US" dirty="0"/>
              <a:t>or, equivalently, that pattern P </a:t>
            </a:r>
            <a:r>
              <a:rPr lang="en-US" b="1" i="1" dirty="0"/>
              <a:t>occurs beginning at position </a:t>
            </a:r>
            <a:r>
              <a:rPr lang="en-US" dirty="0" smtClean="0"/>
              <a:t>s+1 </a:t>
            </a:r>
            <a:r>
              <a:rPr lang="en-US" dirty="0"/>
              <a:t>in text T ) </a:t>
            </a:r>
            <a:r>
              <a:rPr lang="en-US" dirty="0" smtClean="0"/>
              <a:t>if 0 &lt;= s&lt;= n-m </a:t>
            </a:r>
            <a:r>
              <a:rPr lang="en-US" dirty="0"/>
              <a:t>and T </a:t>
            </a:r>
            <a:r>
              <a:rPr lang="en-US" dirty="0" smtClean="0"/>
              <a:t>[s+1.. </a:t>
            </a:r>
            <a:r>
              <a:rPr lang="en-US" dirty="0" err="1" smtClean="0"/>
              <a:t>s+m</a:t>
            </a:r>
            <a:r>
              <a:rPr lang="en-US" dirty="0" smtClean="0"/>
              <a:t>]. 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If </a:t>
            </a:r>
            <a:r>
              <a:rPr lang="en-US" dirty="0"/>
              <a:t>P occurs with shift s in T , then we call s a </a:t>
            </a:r>
            <a:r>
              <a:rPr lang="en-US" b="1" i="1" dirty="0"/>
              <a:t>valid shift</a:t>
            </a:r>
            <a:r>
              <a:rPr lang="en-US" dirty="0"/>
              <a:t>; </a:t>
            </a:r>
            <a:r>
              <a:rPr lang="en-US" dirty="0" err="1" smtClean="0"/>
              <a:t>otherwise,we</a:t>
            </a:r>
            <a:r>
              <a:rPr lang="en-US" dirty="0" smtClean="0"/>
              <a:t> </a:t>
            </a:r>
            <a:r>
              <a:rPr lang="en-US" dirty="0"/>
              <a:t>call s an </a:t>
            </a:r>
            <a:r>
              <a:rPr lang="en-US" b="1" i="1" dirty="0"/>
              <a:t>invalid shift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The </a:t>
            </a:r>
            <a:r>
              <a:rPr lang="en-US" b="1" i="1" dirty="0"/>
              <a:t>string-matching problem </a:t>
            </a:r>
            <a:r>
              <a:rPr lang="en-US" dirty="0"/>
              <a:t>is the problem of </a:t>
            </a:r>
            <a:r>
              <a:rPr lang="en-US" dirty="0" smtClean="0"/>
              <a:t>finding all </a:t>
            </a:r>
            <a:r>
              <a:rPr lang="en-US" dirty="0"/>
              <a:t>valid shifts with which a given pattern P occurs in a given text T .</a:t>
            </a:r>
          </a:p>
        </p:txBody>
      </p:sp>
    </p:spTree>
    <p:extLst>
      <p:ext uri="{BB962C8B-B14F-4D97-AF65-F5344CB8AC3E}">
        <p14:creationId xmlns:p14="http://schemas.microsoft.com/office/powerpoint/2010/main" val="177273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94523" y="5095631"/>
            <a:ext cx="393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Text: ABABABABABABABAB</a:t>
            </a:r>
          </a:p>
          <a:p>
            <a:r>
              <a:rPr lang="en-US" dirty="0" smtClean="0"/>
              <a:t>Pattern: ABABAB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537" y="2195082"/>
            <a:ext cx="7026249" cy="1767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6186" y="5130802"/>
            <a:ext cx="393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Text: ABCABCDABCABCABC</a:t>
            </a:r>
          </a:p>
          <a:p>
            <a:r>
              <a:rPr lang="en-US" dirty="0" smtClean="0"/>
              <a:t>Pattern: ABCD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88221" y="5248031"/>
            <a:ext cx="393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Text: AAAAAAAAAAAAAA</a:t>
            </a:r>
          </a:p>
          <a:p>
            <a:r>
              <a:rPr lang="en-US" dirty="0" smtClean="0"/>
              <a:t>Pattern: AAA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63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Naïve string-matching algorithm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438" y="1163150"/>
            <a:ext cx="6672362" cy="27737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42" y="6224953"/>
            <a:ext cx="9665010" cy="3516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00500"/>
            <a:ext cx="10434401" cy="17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9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Rabin-Karp algorithm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089" y="2786792"/>
            <a:ext cx="10152283" cy="32783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713" y="680711"/>
            <a:ext cx="8109823" cy="190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5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Rabin-Karp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10473822" cy="350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3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Rabin-Karp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86" y="680712"/>
            <a:ext cx="9254631" cy="618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3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Knuth-Morris-Pratt Algorithm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9507" y="3146038"/>
            <a:ext cx="7232954" cy="19792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665" y="984738"/>
            <a:ext cx="7275304" cy="18572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591" y="4866202"/>
            <a:ext cx="3534740" cy="199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Knuth-Morris-Pratt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33" y="680711"/>
            <a:ext cx="6897782" cy="32330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750" y="4356651"/>
            <a:ext cx="4186719" cy="182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1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Knuth-Morris-Pratt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95" y="949126"/>
            <a:ext cx="7019082" cy="580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4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Knuth-Morris-Pratt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31" y="755331"/>
            <a:ext cx="11326708" cy="56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8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String Matching with 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55" y="1133533"/>
            <a:ext cx="11491390" cy="50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0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String Matching with 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6" y="701455"/>
            <a:ext cx="7535008" cy="53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4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267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Finite Automata Matcher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4" y="1617785"/>
            <a:ext cx="9754495" cy="43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7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238</Words>
  <Application>Microsoft Office PowerPoint</Application>
  <PresentationFormat>Widescreen</PresentationFormat>
  <Paragraphs>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Office Theme</vt:lpstr>
      <vt:lpstr>String Matching Algorithms</vt:lpstr>
      <vt:lpstr>String matching Problem</vt:lpstr>
      <vt:lpstr>String matching Problem</vt:lpstr>
      <vt:lpstr>PowerPoint Presentation</vt:lpstr>
      <vt:lpstr>Naïve string-matching algorithm</vt:lpstr>
      <vt:lpstr>Rabin-Karp algorithm</vt:lpstr>
      <vt:lpstr>Rabin-Karp algorithm</vt:lpstr>
      <vt:lpstr>Rabin-Karp algorithm</vt:lpstr>
      <vt:lpstr>Knuth-Morris-Pratt Algorithm</vt:lpstr>
      <vt:lpstr>Knuth-Morris-Pratt Algorithm</vt:lpstr>
      <vt:lpstr>Knuth-Morris-Pratt Algorithm</vt:lpstr>
      <vt:lpstr>Knuth-Morris-Pratt Algorithm</vt:lpstr>
      <vt:lpstr>String Matching with Finite Automata</vt:lpstr>
      <vt:lpstr>String Matching with Finite Automata</vt:lpstr>
      <vt:lpstr>Finite Automata Matcher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Matching Algorithms</dc:title>
  <dc:creator>HP</dc:creator>
  <cp:lastModifiedBy>HP</cp:lastModifiedBy>
  <cp:revision>18</cp:revision>
  <dcterms:created xsi:type="dcterms:W3CDTF">2024-09-29T12:42:19Z</dcterms:created>
  <dcterms:modified xsi:type="dcterms:W3CDTF">2026-03-29T16:39:42Z</dcterms:modified>
</cp:coreProperties>
</file>