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76" r:id="rId9"/>
    <p:sldId id="277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1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5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3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7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4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6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0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7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5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9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A4AA8-5C18-4B3E-9F00-2D92683C0F6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16121-08F6-4128-AB05-D155A38D3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0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Backtracking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2792" y="3602038"/>
            <a:ext cx="9144000" cy="1655762"/>
          </a:xfrm>
        </p:spPr>
        <p:txBody>
          <a:bodyPr/>
          <a:lstStyle/>
          <a:p>
            <a:r>
              <a:rPr lang="en-US" dirty="0" smtClean="0"/>
              <a:t>Md. </a:t>
            </a:r>
            <a:r>
              <a:rPr lang="en-US" dirty="0" err="1" smtClean="0"/>
              <a:t>Rezaul</a:t>
            </a:r>
            <a:r>
              <a:rPr lang="en-US" dirty="0" smtClean="0"/>
              <a:t> Karim</a:t>
            </a:r>
          </a:p>
          <a:p>
            <a:r>
              <a:rPr lang="en-US" dirty="0" smtClean="0"/>
              <a:t>CSEDU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5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39"/>
          </a:xfrm>
        </p:spPr>
        <p:txBody>
          <a:bodyPr/>
          <a:lstStyle/>
          <a:p>
            <a:pPr algn="ctr"/>
            <a:r>
              <a:rPr lang="en-US" dirty="0" smtClean="0"/>
              <a:t>Features of Backtracking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2764"/>
            <a:ext cx="10515600" cy="559558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dirty="0" smtClean="0"/>
              <a:t>Backtracking is </a:t>
            </a:r>
            <a:r>
              <a:rPr lang="en-US" dirty="0" smtClean="0">
                <a:solidFill>
                  <a:srgbClr val="FF0000"/>
                </a:solidFill>
              </a:rPr>
              <a:t>more intelligent </a:t>
            </a:r>
            <a:r>
              <a:rPr lang="en-US" dirty="0" smtClean="0"/>
              <a:t>variation of brute force approach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The </a:t>
            </a:r>
            <a:r>
              <a:rPr lang="en-US" dirty="0" smtClean="0">
                <a:solidFill>
                  <a:srgbClr val="FF0000"/>
                </a:solidFill>
              </a:rPr>
              <a:t>principal idea </a:t>
            </a:r>
            <a:r>
              <a:rPr lang="en-US" dirty="0"/>
              <a:t>is to construct solutions </a:t>
            </a:r>
            <a:r>
              <a:rPr lang="en-US" dirty="0">
                <a:solidFill>
                  <a:srgbClr val="FF0000"/>
                </a:solidFill>
              </a:rPr>
              <a:t>one component </a:t>
            </a:r>
            <a:r>
              <a:rPr lang="en-US" dirty="0"/>
              <a:t>at a time and </a:t>
            </a:r>
            <a:r>
              <a:rPr lang="en-US" dirty="0">
                <a:solidFill>
                  <a:srgbClr val="FF0000"/>
                </a:solidFill>
              </a:rPr>
              <a:t>evaluate such </a:t>
            </a:r>
            <a:r>
              <a:rPr lang="en-US" dirty="0" smtClean="0">
                <a:solidFill>
                  <a:srgbClr val="FF0000"/>
                </a:solidFill>
              </a:rPr>
              <a:t>partially </a:t>
            </a:r>
            <a:r>
              <a:rPr lang="en-US" dirty="0" smtClean="0"/>
              <a:t>constructed </a:t>
            </a:r>
            <a:r>
              <a:rPr lang="en-US" dirty="0"/>
              <a:t>candidates as follows</a:t>
            </a:r>
            <a:r>
              <a:rPr lang="en-US" dirty="0" smtClean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sz="2800" dirty="0"/>
              <a:t>If a </a:t>
            </a:r>
            <a:r>
              <a:rPr lang="en-US" sz="2800" dirty="0">
                <a:solidFill>
                  <a:srgbClr val="FF0000"/>
                </a:solidFill>
              </a:rPr>
              <a:t>partially constructed </a:t>
            </a:r>
            <a:r>
              <a:rPr lang="en-US" sz="2800" dirty="0"/>
              <a:t>solution can be </a:t>
            </a:r>
            <a:r>
              <a:rPr lang="en-US" sz="2800" dirty="0" smtClean="0">
                <a:solidFill>
                  <a:srgbClr val="FF0000"/>
                </a:solidFill>
              </a:rPr>
              <a:t>developed further </a:t>
            </a:r>
            <a:r>
              <a:rPr lang="en-US" sz="2800" dirty="0"/>
              <a:t>without violating the problem’s constraints, it is done by </a:t>
            </a:r>
            <a:r>
              <a:rPr lang="en-US" sz="2800" dirty="0" smtClean="0"/>
              <a:t>taking the </a:t>
            </a:r>
            <a:r>
              <a:rPr lang="en-US" sz="2800" dirty="0">
                <a:solidFill>
                  <a:srgbClr val="FF0000"/>
                </a:solidFill>
              </a:rPr>
              <a:t>first remaining legitimate </a:t>
            </a:r>
            <a:r>
              <a:rPr lang="en-US" sz="2800" dirty="0"/>
              <a:t>option for the next </a:t>
            </a:r>
            <a:r>
              <a:rPr lang="en-US" sz="2800" dirty="0" smtClean="0"/>
              <a:t>component</a:t>
            </a:r>
          </a:p>
          <a:p>
            <a:pPr lvl="1" algn="just">
              <a:lnSpc>
                <a:spcPct val="120000"/>
              </a:lnSpc>
            </a:pPr>
            <a:r>
              <a:rPr lang="en-US" sz="2800" dirty="0"/>
              <a:t>If there is </a:t>
            </a:r>
            <a:r>
              <a:rPr lang="en-US" sz="2800" dirty="0">
                <a:solidFill>
                  <a:srgbClr val="FF0000"/>
                </a:solidFill>
              </a:rPr>
              <a:t>no </a:t>
            </a:r>
            <a:r>
              <a:rPr lang="en-US" sz="2800" dirty="0" smtClean="0">
                <a:solidFill>
                  <a:srgbClr val="FF0000"/>
                </a:solidFill>
              </a:rPr>
              <a:t>legitimate option</a:t>
            </a:r>
            <a:r>
              <a:rPr lang="en-US" sz="2800" dirty="0" smtClean="0"/>
              <a:t> </a:t>
            </a:r>
            <a:r>
              <a:rPr lang="en-US" sz="2800" dirty="0"/>
              <a:t>for the next component, no alternatives for </a:t>
            </a:r>
            <a:r>
              <a:rPr lang="en-US" sz="2800" i="1" dirty="0"/>
              <a:t>any </a:t>
            </a:r>
            <a:r>
              <a:rPr lang="en-US" sz="2800" dirty="0"/>
              <a:t>remaining </a:t>
            </a:r>
            <a:r>
              <a:rPr lang="en-US" sz="2800" dirty="0" smtClean="0"/>
              <a:t>component need </a:t>
            </a:r>
            <a:r>
              <a:rPr lang="en-US" sz="2800" dirty="0"/>
              <a:t>to be considered</a:t>
            </a:r>
            <a:r>
              <a:rPr lang="en-US" sz="2800" dirty="0" smtClean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sz="2800" dirty="0"/>
              <a:t>In this case, the </a:t>
            </a:r>
            <a:r>
              <a:rPr lang="en-US" sz="2800" dirty="0">
                <a:solidFill>
                  <a:srgbClr val="FF0000"/>
                </a:solidFill>
              </a:rPr>
              <a:t>algorithm backtracks </a:t>
            </a:r>
            <a:r>
              <a:rPr lang="en-US" sz="2800" dirty="0"/>
              <a:t>to replace the </a:t>
            </a:r>
            <a:r>
              <a:rPr lang="en-US" sz="2800" dirty="0" smtClean="0">
                <a:solidFill>
                  <a:srgbClr val="FF0000"/>
                </a:solidFill>
              </a:rPr>
              <a:t>last</a:t>
            </a:r>
            <a:r>
              <a:rPr lang="en-US" sz="2800" dirty="0" smtClean="0"/>
              <a:t> component </a:t>
            </a:r>
            <a:r>
              <a:rPr lang="en-US" sz="2800" dirty="0"/>
              <a:t>of the partially constructed solution with its </a:t>
            </a:r>
            <a:r>
              <a:rPr lang="en-US" sz="2800" dirty="0">
                <a:solidFill>
                  <a:srgbClr val="FF0000"/>
                </a:solidFill>
              </a:rPr>
              <a:t>next</a:t>
            </a:r>
            <a:r>
              <a:rPr lang="en-US" sz="2800" dirty="0"/>
              <a:t> option.</a:t>
            </a:r>
          </a:p>
        </p:txBody>
      </p:sp>
    </p:spTree>
    <p:extLst>
      <p:ext uri="{BB962C8B-B14F-4D97-AF65-F5344CB8AC3E}">
        <p14:creationId xmlns:p14="http://schemas.microsoft.com/office/powerpoint/2010/main" val="144270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2223"/>
            <a:ext cx="10515600" cy="5099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State-</a:t>
            </a:r>
            <a:r>
              <a:rPr lang="en-US" dirty="0" err="1" smtClean="0"/>
              <a:t>SpaceTree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322"/>
            <a:ext cx="11286392" cy="5794131"/>
          </a:xfrm>
        </p:spPr>
        <p:txBody>
          <a:bodyPr>
            <a:normAutofit/>
          </a:bodyPr>
          <a:lstStyle/>
          <a:p>
            <a:r>
              <a:rPr lang="en-US" dirty="0"/>
              <a:t>It is </a:t>
            </a:r>
            <a:r>
              <a:rPr lang="en-US" dirty="0">
                <a:solidFill>
                  <a:srgbClr val="FF0000"/>
                </a:solidFill>
              </a:rPr>
              <a:t>convenient</a:t>
            </a:r>
            <a:r>
              <a:rPr lang="en-US" dirty="0"/>
              <a:t> to implement this kind of </a:t>
            </a:r>
            <a:r>
              <a:rPr lang="en-US" dirty="0">
                <a:solidFill>
                  <a:srgbClr val="FF0000"/>
                </a:solidFill>
              </a:rPr>
              <a:t>processing</a:t>
            </a:r>
            <a:r>
              <a:rPr lang="en-US" dirty="0"/>
              <a:t> by constructing a </a:t>
            </a:r>
            <a:r>
              <a:rPr lang="en-US" dirty="0" smtClean="0">
                <a:solidFill>
                  <a:srgbClr val="FF0000"/>
                </a:solidFill>
              </a:rPr>
              <a:t>tree of </a:t>
            </a:r>
            <a:r>
              <a:rPr lang="en-US" dirty="0">
                <a:solidFill>
                  <a:srgbClr val="FF0000"/>
                </a:solidFill>
              </a:rPr>
              <a:t>choices</a:t>
            </a:r>
            <a:r>
              <a:rPr lang="en-US" dirty="0"/>
              <a:t> being made, called the </a:t>
            </a:r>
            <a:r>
              <a:rPr lang="en-US" b="1" i="1" dirty="0">
                <a:solidFill>
                  <a:srgbClr val="FF0000"/>
                </a:solidFill>
              </a:rPr>
              <a:t>state-space tree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Its </a:t>
            </a:r>
            <a:r>
              <a:rPr lang="en-US" dirty="0">
                <a:solidFill>
                  <a:srgbClr val="FF0000"/>
                </a:solidFill>
              </a:rPr>
              <a:t>root</a:t>
            </a:r>
            <a:r>
              <a:rPr lang="en-US" dirty="0"/>
              <a:t> represents an </a:t>
            </a:r>
            <a:r>
              <a:rPr lang="en-US" dirty="0" smtClean="0"/>
              <a:t>initial state </a:t>
            </a:r>
            <a:r>
              <a:rPr lang="en-US" dirty="0"/>
              <a:t>before the search for a solution begins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nodes of the </a:t>
            </a:r>
            <a:r>
              <a:rPr lang="en-US" dirty="0">
                <a:solidFill>
                  <a:srgbClr val="FF0000"/>
                </a:solidFill>
              </a:rPr>
              <a:t>first level </a:t>
            </a:r>
            <a:r>
              <a:rPr lang="en-US" dirty="0"/>
              <a:t>in </a:t>
            </a:r>
            <a:r>
              <a:rPr lang="en-US" dirty="0" smtClean="0"/>
              <a:t>the tree </a:t>
            </a:r>
            <a:r>
              <a:rPr lang="en-US" dirty="0"/>
              <a:t>represent the choices made for the </a:t>
            </a:r>
            <a:r>
              <a:rPr lang="en-US" dirty="0">
                <a:solidFill>
                  <a:srgbClr val="FF0000"/>
                </a:solidFill>
              </a:rPr>
              <a:t>first component </a:t>
            </a:r>
            <a:r>
              <a:rPr lang="en-US" dirty="0"/>
              <a:t>of a solution, the </a:t>
            </a:r>
            <a:r>
              <a:rPr lang="en-US" dirty="0" smtClean="0"/>
              <a:t>nodes of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second level </a:t>
            </a:r>
            <a:r>
              <a:rPr lang="en-US" dirty="0"/>
              <a:t>represent the choices for the </a:t>
            </a:r>
            <a:r>
              <a:rPr lang="en-US" dirty="0">
                <a:solidFill>
                  <a:srgbClr val="FF0000"/>
                </a:solidFill>
              </a:rPr>
              <a:t>second component</a:t>
            </a:r>
            <a:r>
              <a:rPr lang="en-US" dirty="0"/>
              <a:t>, and </a:t>
            </a:r>
            <a:r>
              <a:rPr lang="en-US" dirty="0" smtClean="0"/>
              <a:t>so 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node in a state-space tree is said to be </a:t>
            </a:r>
            <a:r>
              <a:rPr lang="en-US" b="1" i="1" dirty="0">
                <a:solidFill>
                  <a:srgbClr val="FF0000"/>
                </a:solidFill>
              </a:rPr>
              <a:t>promising</a:t>
            </a:r>
            <a:r>
              <a:rPr lang="en-US" b="1" i="1" dirty="0"/>
              <a:t> </a:t>
            </a:r>
            <a:r>
              <a:rPr lang="en-US" dirty="0"/>
              <a:t>if it corresponds to </a:t>
            </a:r>
            <a:r>
              <a:rPr lang="en-US" dirty="0" smtClean="0"/>
              <a:t>a partially </a:t>
            </a:r>
            <a:r>
              <a:rPr lang="en-US" dirty="0"/>
              <a:t>constructed solution that may still lead to a complete </a:t>
            </a:r>
            <a:r>
              <a:rPr lang="en-US" dirty="0" smtClean="0"/>
              <a:t>solution; otherwise, </a:t>
            </a:r>
            <a:r>
              <a:rPr lang="en-US" dirty="0"/>
              <a:t>it is called </a:t>
            </a:r>
            <a:r>
              <a:rPr lang="en-US" b="1" i="1" dirty="0" err="1" smtClean="0">
                <a:solidFill>
                  <a:srgbClr val="FF0000"/>
                </a:solidFill>
              </a:rPr>
              <a:t>nonpromising</a:t>
            </a:r>
            <a:endParaRPr lang="en-US" b="1" i="1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Leaves</a:t>
            </a:r>
            <a:r>
              <a:rPr lang="en-US" dirty="0"/>
              <a:t> represent either </a:t>
            </a:r>
            <a:r>
              <a:rPr lang="en-US" dirty="0" err="1"/>
              <a:t>nonpromising</a:t>
            </a:r>
            <a:r>
              <a:rPr lang="en-US" dirty="0"/>
              <a:t> dead ends </a:t>
            </a:r>
            <a:r>
              <a:rPr lang="en-US" dirty="0" smtClean="0"/>
              <a:t>or complete </a:t>
            </a:r>
            <a:r>
              <a:rPr lang="en-US" dirty="0"/>
              <a:t>solutions found by the algorithm</a:t>
            </a:r>
          </a:p>
        </p:txBody>
      </p:sp>
    </p:spTree>
    <p:extLst>
      <p:ext uri="{BB962C8B-B14F-4D97-AF65-F5344CB8AC3E}">
        <p14:creationId xmlns:p14="http://schemas.microsoft.com/office/powerpoint/2010/main" val="92041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470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State-</a:t>
            </a:r>
            <a:r>
              <a:rPr lang="en-US" dirty="0" err="1" smtClean="0"/>
              <a:t>SpaceTree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322"/>
            <a:ext cx="11286392" cy="5794131"/>
          </a:xfrm>
        </p:spPr>
        <p:txBody>
          <a:bodyPr>
            <a:normAutofit/>
          </a:bodyPr>
          <a:lstStyle/>
          <a:p>
            <a:r>
              <a:rPr lang="en-US" dirty="0" smtClean="0"/>
              <a:t>A state-space tree </a:t>
            </a:r>
            <a:r>
              <a:rPr lang="en-US" dirty="0"/>
              <a:t>for a backtracking algorithm is constructed in the manner of </a:t>
            </a:r>
            <a:r>
              <a:rPr lang="en-US" dirty="0" smtClean="0">
                <a:solidFill>
                  <a:srgbClr val="FF0000"/>
                </a:solidFill>
              </a:rPr>
              <a:t>depth first search</a:t>
            </a:r>
            <a:r>
              <a:rPr lang="en-US" dirty="0" smtClean="0"/>
              <a:t>.</a:t>
            </a:r>
          </a:p>
          <a:p>
            <a:r>
              <a:rPr lang="en-US" dirty="0"/>
              <a:t>If the current node is </a:t>
            </a:r>
            <a:r>
              <a:rPr lang="en-US" dirty="0">
                <a:solidFill>
                  <a:srgbClr val="FF0000"/>
                </a:solidFill>
              </a:rPr>
              <a:t>promising</a:t>
            </a:r>
            <a:r>
              <a:rPr lang="en-US" dirty="0"/>
              <a:t>, its </a:t>
            </a:r>
            <a:r>
              <a:rPr lang="en-US" dirty="0">
                <a:solidFill>
                  <a:srgbClr val="FF0000"/>
                </a:solidFill>
              </a:rPr>
              <a:t>child is generated </a:t>
            </a:r>
            <a:r>
              <a:rPr lang="en-US" dirty="0"/>
              <a:t>by adding </a:t>
            </a:r>
            <a:r>
              <a:rPr lang="en-US" dirty="0" smtClean="0"/>
              <a:t>the first </a:t>
            </a:r>
            <a:r>
              <a:rPr lang="en-US" dirty="0"/>
              <a:t>remaining legitimate option for the next component of a solution, and </a:t>
            </a:r>
            <a:r>
              <a:rPr lang="en-US" dirty="0" smtClean="0"/>
              <a:t>the processing </a:t>
            </a:r>
            <a:r>
              <a:rPr lang="en-US" dirty="0"/>
              <a:t>moves to this </a:t>
            </a:r>
            <a:r>
              <a:rPr lang="en-US" dirty="0" smtClean="0"/>
              <a:t>child</a:t>
            </a:r>
          </a:p>
          <a:p>
            <a:r>
              <a:rPr lang="en-US" dirty="0"/>
              <a:t>If the current node turns out to be </a:t>
            </a:r>
            <a:r>
              <a:rPr lang="en-US" dirty="0" err="1">
                <a:solidFill>
                  <a:srgbClr val="FF0000"/>
                </a:solidFill>
              </a:rPr>
              <a:t>nonpromising</a:t>
            </a:r>
            <a:r>
              <a:rPr lang="en-US" dirty="0" smtClean="0"/>
              <a:t>, the </a:t>
            </a:r>
            <a:r>
              <a:rPr lang="en-US" dirty="0"/>
              <a:t>algorithm backtracks to the node’s parent to consider the next possible </a:t>
            </a:r>
            <a:r>
              <a:rPr lang="en-US" dirty="0" smtClean="0"/>
              <a:t>option for </a:t>
            </a:r>
            <a:r>
              <a:rPr lang="en-US" dirty="0"/>
              <a:t>its last component; if there is no such option, it backtracks one more level </a:t>
            </a:r>
            <a:r>
              <a:rPr lang="en-US" dirty="0" smtClean="0"/>
              <a:t>up the </a:t>
            </a:r>
            <a:r>
              <a:rPr lang="en-US" dirty="0"/>
              <a:t>tree, and so </a:t>
            </a:r>
            <a:r>
              <a:rPr lang="en-US" dirty="0" smtClean="0"/>
              <a:t>on</a:t>
            </a:r>
          </a:p>
          <a:p>
            <a:r>
              <a:rPr lang="en-US" dirty="0"/>
              <a:t>Finally, if the algorithm reaches a complete solution to </a:t>
            </a:r>
            <a:r>
              <a:rPr lang="en-US" dirty="0" smtClean="0"/>
              <a:t>the problem</a:t>
            </a:r>
            <a:r>
              <a:rPr lang="en-US" dirty="0"/>
              <a:t>, it either stops (if just one solution is required) or continues </a:t>
            </a:r>
            <a:r>
              <a:rPr lang="en-US" dirty="0" smtClean="0"/>
              <a:t>searching for </a:t>
            </a:r>
            <a:r>
              <a:rPr lang="en-US" dirty="0"/>
              <a:t>other possible solutions</a:t>
            </a:r>
          </a:p>
        </p:txBody>
      </p:sp>
    </p:spTree>
    <p:extLst>
      <p:ext uri="{BB962C8B-B14F-4D97-AF65-F5344CB8AC3E}">
        <p14:creationId xmlns:p14="http://schemas.microsoft.com/office/powerpoint/2010/main" val="379432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68" y="-84125"/>
            <a:ext cx="8359864" cy="70262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438" y="254977"/>
            <a:ext cx="4062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mtClean="0"/>
              <a:t>Four-Queens </a:t>
            </a:r>
            <a:r>
              <a:rPr lang="en-US" sz="3200" dirty="0" smtClean="0"/>
              <a:t>Problem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4957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Algorithm-</a:t>
            </a:r>
            <a:r>
              <a:rPr lang="en-US" dirty="0" err="1" smtClean="0"/>
              <a:t>NQueen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NQueen</a:t>
            </a:r>
            <a:r>
              <a:rPr lang="en-US" dirty="0" smtClean="0"/>
              <a:t>(k, n)</a:t>
            </a:r>
          </a:p>
          <a:p>
            <a:pPr marL="0" indent="0">
              <a:buNone/>
            </a:pPr>
            <a:r>
              <a:rPr lang="en-US" dirty="0" smtClean="0"/>
              <a:t>{ for </a:t>
            </a:r>
            <a:r>
              <a:rPr lang="en-US" dirty="0" err="1" smtClean="0"/>
              <a:t>i</a:t>
            </a:r>
            <a:r>
              <a:rPr lang="en-US" dirty="0" smtClean="0"/>
              <a:t> = 1 to n do</a:t>
            </a:r>
          </a:p>
          <a:p>
            <a:pPr marL="0" indent="0">
              <a:buNone/>
            </a:pPr>
            <a:r>
              <a:rPr lang="en-US" dirty="0" smtClean="0"/>
              <a:t>	{ if (Place(k, </a:t>
            </a:r>
            <a:r>
              <a:rPr lang="en-US" dirty="0" err="1" smtClean="0"/>
              <a:t>i</a:t>
            </a:r>
            <a:r>
              <a:rPr lang="en-US" dirty="0" smtClean="0"/>
              <a:t>)) then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{x[k]=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if(k==n) then print 				x[1..n]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else </a:t>
            </a:r>
            <a:r>
              <a:rPr lang="en-US" dirty="0" err="1" smtClean="0"/>
              <a:t>NQueen</a:t>
            </a:r>
            <a:r>
              <a:rPr lang="en-US" dirty="0" smtClean="0"/>
              <a:t>(k+1, n)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Place(k, 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</a:p>
          <a:p>
            <a:pPr marL="0" indent="0">
              <a:buNone/>
            </a:pPr>
            <a:r>
              <a:rPr lang="en-US" dirty="0" smtClean="0"/>
              <a:t>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 j = 1 to (k-1)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if((x[j]==</a:t>
            </a:r>
            <a:r>
              <a:rPr lang="en-US" dirty="0" err="1" smtClean="0"/>
              <a:t>i</a:t>
            </a:r>
            <a:r>
              <a:rPr lang="en-US" dirty="0" smtClean="0"/>
              <a:t>) or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(abs(x[j]-</a:t>
            </a:r>
            <a:r>
              <a:rPr lang="en-US" dirty="0" err="1" smtClean="0"/>
              <a:t>i</a:t>
            </a:r>
            <a:r>
              <a:rPr lang="en-US" dirty="0" smtClean="0"/>
              <a:t>)==abs(j-k)))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return false;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return true;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350369" y="365125"/>
            <a:ext cx="3622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Initial call </a:t>
            </a:r>
            <a:r>
              <a:rPr lang="en-US" dirty="0" err="1" smtClean="0"/>
              <a:t>Nqueen</a:t>
            </a:r>
            <a:r>
              <a:rPr lang="en-US" dirty="0" smtClean="0"/>
              <a:t>(1, n)</a:t>
            </a:r>
          </a:p>
          <a:p>
            <a:r>
              <a:rPr lang="en-US" dirty="0" smtClean="0"/>
              <a:t>X[1..n]=result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43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time algorithm for </a:t>
            </a:r>
            <a:r>
              <a:rPr lang="en-US" dirty="0" err="1"/>
              <a:t>N</a:t>
            </a:r>
            <a:r>
              <a:rPr lang="en-US" dirty="0" err="1" smtClean="0"/>
              <a:t>queen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Approach is not backtracking</a:t>
            </a:r>
          </a:p>
          <a:p>
            <a:r>
              <a:rPr lang="en-US" dirty="0" smtClean="0"/>
              <a:t>Pattern based linear time algorithm</a:t>
            </a:r>
          </a:p>
          <a:p>
            <a:r>
              <a:rPr lang="en-US" dirty="0" err="1" smtClean="0"/>
              <a:t>i</a:t>
            </a:r>
            <a:r>
              <a:rPr lang="en-US" dirty="0" smtClean="0"/>
              <a:t> = 1 to N/2 even number column</a:t>
            </a:r>
          </a:p>
          <a:p>
            <a:r>
              <a:rPr lang="en-US" dirty="0"/>
              <a:t>i</a:t>
            </a:r>
            <a:r>
              <a:rPr lang="en-US" dirty="0" smtClean="0"/>
              <a:t> = N/2+1 to N queen at 2(</a:t>
            </a:r>
            <a:r>
              <a:rPr lang="en-US" dirty="0" err="1" smtClean="0"/>
              <a:t>i</a:t>
            </a:r>
            <a:r>
              <a:rPr lang="en-US" dirty="0" smtClean="0"/>
              <a:t>-N/2)-1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8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Subset sum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731"/>
                <a:ext cx="10515600" cy="472623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b="1" i="1" dirty="0" smtClean="0"/>
                  <a:t>subset-sum problem</a:t>
                </a:r>
                <a:r>
                  <a:rPr lang="en-US" dirty="0"/>
                  <a:t>: find a subset of a </a:t>
                </a:r>
                <a:r>
                  <a:rPr lang="en-US" dirty="0" smtClean="0"/>
                  <a:t>given set </a:t>
                </a:r>
                <a:r>
                  <a:rPr lang="en-US" i="1" dirty="0"/>
                  <a:t>A </a:t>
                </a:r>
                <a:r>
                  <a:rPr lang="en-US" dirty="0"/>
                  <a:t>= {</a:t>
                </a:r>
                <a:r>
                  <a:rPr lang="en-US" i="1" dirty="0"/>
                  <a:t>a</a:t>
                </a:r>
                <a:r>
                  <a:rPr lang="en-US" baseline="-25000" dirty="0"/>
                  <a:t>1</a:t>
                </a:r>
                <a:r>
                  <a:rPr lang="en-US" i="1" dirty="0"/>
                  <a:t>, . . . , </a:t>
                </a:r>
                <a:r>
                  <a:rPr lang="en-US" i="1" dirty="0" smtClean="0"/>
                  <a:t>a</a:t>
                </a:r>
                <a:r>
                  <a:rPr lang="en-US" i="1" baseline="-25000" dirty="0" smtClean="0"/>
                  <a:t>n</a:t>
                </a:r>
                <a:r>
                  <a:rPr lang="en-US" dirty="0" smtClean="0"/>
                  <a:t>} </a:t>
                </a:r>
                <a:r>
                  <a:rPr lang="en-US" dirty="0"/>
                  <a:t>of </a:t>
                </a:r>
                <a:r>
                  <a:rPr lang="en-US" i="1" dirty="0"/>
                  <a:t>n </a:t>
                </a:r>
                <a:r>
                  <a:rPr lang="en-US" dirty="0"/>
                  <a:t>positive integers whose sum is equal to a given </a:t>
                </a:r>
                <a:r>
                  <a:rPr lang="en-US" dirty="0" smtClean="0"/>
                  <a:t>positive integer </a:t>
                </a:r>
                <a:r>
                  <a:rPr lang="en-US" i="1" dirty="0"/>
                  <a:t>d</a:t>
                </a:r>
                <a:r>
                  <a:rPr lang="en-US" i="1" dirty="0" smtClean="0"/>
                  <a:t>.</a:t>
                </a:r>
              </a:p>
              <a:p>
                <a:r>
                  <a:rPr lang="en-US" dirty="0"/>
                  <a:t>For example, for </a:t>
                </a:r>
                <a:r>
                  <a:rPr lang="en-US" i="1" dirty="0"/>
                  <a:t>A </a:t>
                </a:r>
                <a:r>
                  <a:rPr lang="en-US" dirty="0"/>
                  <a:t>= {1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</a:t>
                </a:r>
                <a:r>
                  <a:rPr lang="en-US" dirty="0"/>
                  <a:t>5</a:t>
                </a:r>
                <a:r>
                  <a:rPr lang="en-US" i="1" dirty="0"/>
                  <a:t>, </a:t>
                </a:r>
                <a:r>
                  <a:rPr lang="en-US" dirty="0"/>
                  <a:t>6</a:t>
                </a:r>
                <a:r>
                  <a:rPr lang="en-US" i="1" dirty="0"/>
                  <a:t>, </a:t>
                </a:r>
                <a:r>
                  <a:rPr lang="en-US" dirty="0"/>
                  <a:t>8} and </a:t>
                </a:r>
                <a:r>
                  <a:rPr lang="en-US" i="1" dirty="0"/>
                  <a:t>d </a:t>
                </a:r>
                <a:r>
                  <a:rPr lang="en-US" dirty="0"/>
                  <a:t>= 9</a:t>
                </a:r>
                <a:r>
                  <a:rPr lang="en-US" i="1" dirty="0"/>
                  <a:t>, </a:t>
                </a:r>
                <a:r>
                  <a:rPr lang="en-US" dirty="0"/>
                  <a:t>there are two solutions:</a:t>
                </a:r>
              </a:p>
              <a:p>
                <a:pPr marL="0" indent="0">
                  <a:buNone/>
                </a:pPr>
                <a:r>
                  <a:rPr lang="en-US" dirty="0" smtClean="0"/>
                  <a:t> {</a:t>
                </a:r>
                <a:r>
                  <a:rPr lang="en-US" dirty="0"/>
                  <a:t>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</a:t>
                </a:r>
                <a:r>
                  <a:rPr lang="en-US" dirty="0"/>
                  <a:t>6} and {1</a:t>
                </a:r>
                <a:r>
                  <a:rPr lang="en-US" i="1" dirty="0"/>
                  <a:t>, </a:t>
                </a:r>
                <a:r>
                  <a:rPr lang="en-US" dirty="0"/>
                  <a:t>8</a:t>
                </a:r>
                <a:r>
                  <a:rPr lang="en-US" dirty="0" smtClean="0"/>
                  <a:t>}</a:t>
                </a:r>
                <a:r>
                  <a:rPr lang="en-US" i="1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i="1" dirty="0" smtClean="0"/>
                  <a:t>x[1..6] = [1,1,0,1, 0] d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731"/>
                <a:ext cx="10515600" cy="4726232"/>
              </a:xfrm>
              <a:blipFill>
                <a:blip r:embed="rId2"/>
                <a:stretch>
                  <a:fillRect l="-1217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45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sum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Bounding function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8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9083"/>
          </a:xfrm>
        </p:spPr>
        <p:txBody>
          <a:bodyPr/>
          <a:lstStyle/>
          <a:p>
            <a:pPr algn="ctr"/>
            <a:r>
              <a:rPr lang="en-US" dirty="0" smtClean="0"/>
              <a:t>Hamiltonian Circuit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1305" y="1960685"/>
            <a:ext cx="4040610" cy="273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0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054" y="1346378"/>
            <a:ext cx="6834553" cy="544128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38200" y="365125"/>
            <a:ext cx="10515600" cy="76908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mtClean="0"/>
              <a:t>Hamiltonian Circuit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9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530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Backtracking  </vt:lpstr>
      <vt:lpstr>Features of Backtracking</vt:lpstr>
      <vt:lpstr>State-SpaceTree </vt:lpstr>
      <vt:lpstr>State-SpaceTree</vt:lpstr>
      <vt:lpstr>PowerPoint Presentation</vt:lpstr>
      <vt:lpstr>Algorithm-NQueen</vt:lpstr>
      <vt:lpstr>Linear time algorithm for Nqueen</vt:lpstr>
      <vt:lpstr>Subset sum problem</vt:lpstr>
      <vt:lpstr>Subset sum problem</vt:lpstr>
      <vt:lpstr>Hamiltonian Circuit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HP</dc:creator>
  <cp:lastModifiedBy>HP</cp:lastModifiedBy>
  <cp:revision>35</cp:revision>
  <dcterms:created xsi:type="dcterms:W3CDTF">2024-12-31T13:15:44Z</dcterms:created>
  <dcterms:modified xsi:type="dcterms:W3CDTF">2026-05-14T00:18:48Z</dcterms:modified>
</cp:coreProperties>
</file>