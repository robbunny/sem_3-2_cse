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7" r:id="rId9"/>
    <p:sldId id="278" r:id="rId10"/>
    <p:sldId id="261" r:id="rId11"/>
    <p:sldId id="262" r:id="rId12"/>
    <p:sldId id="263" r:id="rId13"/>
    <p:sldId id="264" r:id="rId14"/>
    <p:sldId id="265" r:id="rId15"/>
    <p:sldId id="279" r:id="rId16"/>
    <p:sldId id="280" r:id="rId17"/>
    <p:sldId id="281" r:id="rId18"/>
    <p:sldId id="289" r:id="rId19"/>
    <p:sldId id="287" r:id="rId20"/>
    <p:sldId id="290" r:id="rId21"/>
    <p:sldId id="291" r:id="rId22"/>
    <p:sldId id="292" r:id="rId23"/>
    <p:sldId id="293" r:id="rId24"/>
    <p:sldId id="294" r:id="rId25"/>
    <p:sldId id="295" r:id="rId26"/>
    <p:sldId id="284" r:id="rId27"/>
    <p:sldId id="285" r:id="rId28"/>
    <p:sldId id="296" r:id="rId29"/>
    <p:sldId id="297" r:id="rId30"/>
    <p:sldId id="29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99DCA-3D9D-4584-8969-5A480C354954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F34A8-5D37-4854-9A2E-AF2CDFB23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34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AF34A8-5D37-4854-9A2E-AF2CDFB23EB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889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83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4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89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78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25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12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308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33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19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16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25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FC99B-8592-4D97-82AA-19DF22D52045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4407F-DC5E-48ED-BD17-FD3EF65E8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337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Online Algorithm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4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Algorithm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he-IL" dirty="0" smtClean="0"/>
              <a:t>Work </a:t>
            </a:r>
            <a:r>
              <a:rPr lang="en-US" altLang="he-IL" b="1" dirty="0" smtClean="0"/>
              <a:t>without</a:t>
            </a:r>
            <a:r>
              <a:rPr lang="en-US" altLang="he-IL" dirty="0" smtClean="0"/>
              <a:t> full</a:t>
            </a:r>
            <a:r>
              <a:rPr lang="en-US" altLang="he-IL" b="1" dirty="0" smtClean="0"/>
              <a:t> knowledge</a:t>
            </a:r>
            <a:r>
              <a:rPr lang="en-US" altLang="he-IL" dirty="0" smtClean="0"/>
              <a:t> of the </a:t>
            </a:r>
            <a:r>
              <a:rPr lang="en-US" altLang="he-IL" b="1" dirty="0" smtClean="0"/>
              <a:t>future</a:t>
            </a:r>
          </a:p>
          <a:p>
            <a:pPr>
              <a:lnSpc>
                <a:spcPct val="90000"/>
              </a:lnSpc>
            </a:pPr>
            <a:r>
              <a:rPr lang="en-US" altLang="he-IL" dirty="0" smtClean="0"/>
              <a:t>Deal with a </a:t>
            </a:r>
            <a:r>
              <a:rPr lang="en-US" altLang="he-IL" b="1" dirty="0" smtClean="0">
                <a:solidFill>
                  <a:srgbClr val="660066"/>
                </a:solidFill>
              </a:rPr>
              <a:t>sequence</a:t>
            </a:r>
            <a:r>
              <a:rPr lang="en-US" altLang="he-IL" dirty="0" smtClean="0"/>
              <a:t> of events </a:t>
            </a:r>
          </a:p>
          <a:p>
            <a:pPr>
              <a:lnSpc>
                <a:spcPct val="90000"/>
              </a:lnSpc>
            </a:pPr>
            <a:r>
              <a:rPr lang="en-US" altLang="he-IL" dirty="0" smtClean="0"/>
              <a:t>Future events are unknown to the algorithm</a:t>
            </a:r>
          </a:p>
          <a:p>
            <a:pPr>
              <a:lnSpc>
                <a:spcPct val="90000"/>
              </a:lnSpc>
            </a:pPr>
            <a:r>
              <a:rPr lang="en-US" altLang="he-IL" dirty="0" smtClean="0"/>
              <a:t>The algorithm has to deal with </a:t>
            </a:r>
            <a:r>
              <a:rPr lang="en-US" altLang="he-IL" b="1" dirty="0" smtClean="0"/>
              <a:t>one event at each time</a:t>
            </a:r>
            <a:r>
              <a:rPr lang="en-US" altLang="he-IL" dirty="0" smtClean="0"/>
              <a:t>. The next event happens only after the algorithm is done dealing with the previous event</a:t>
            </a:r>
            <a:endParaRPr lang="en-US" alt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710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 dirty="0" smtClean="0"/>
              <a:t>We </a:t>
            </a:r>
            <a:r>
              <a:rPr lang="en-US" altLang="he-IL" b="1" dirty="0" smtClean="0">
                <a:solidFill>
                  <a:srgbClr val="FF0066"/>
                </a:solidFill>
              </a:rPr>
              <a:t>compare</a:t>
            </a:r>
            <a:r>
              <a:rPr lang="en-US" altLang="he-IL" dirty="0" smtClean="0"/>
              <a:t> the behavior of the </a:t>
            </a:r>
            <a:r>
              <a:rPr lang="en-US" altLang="he-IL" b="1" dirty="0" smtClean="0">
                <a:solidFill>
                  <a:srgbClr val="FF0066"/>
                </a:solidFill>
              </a:rPr>
              <a:t>on-line</a:t>
            </a:r>
            <a:r>
              <a:rPr lang="en-US" altLang="he-IL" dirty="0" smtClean="0"/>
              <a:t> algorithm to an optimal </a:t>
            </a:r>
            <a:r>
              <a:rPr lang="en-US" altLang="he-IL" b="1" dirty="0" smtClean="0">
                <a:solidFill>
                  <a:srgbClr val="FF0066"/>
                </a:solidFill>
              </a:rPr>
              <a:t>off-line</a:t>
            </a:r>
            <a:r>
              <a:rPr lang="en-US" altLang="he-IL" dirty="0" smtClean="0"/>
              <a:t> algorithm </a:t>
            </a:r>
            <a:r>
              <a:rPr lang="en-US" altLang="he-IL" b="1" dirty="0" smtClean="0">
                <a:solidFill>
                  <a:srgbClr val="990033"/>
                </a:solidFill>
              </a:rPr>
              <a:t>“OPT”</a:t>
            </a:r>
            <a:r>
              <a:rPr lang="en-US" altLang="he-IL" dirty="0" smtClean="0"/>
              <a:t> which is </a:t>
            </a:r>
            <a:r>
              <a:rPr lang="en-US" altLang="he-IL" b="1" dirty="0" smtClean="0">
                <a:solidFill>
                  <a:srgbClr val="FF0066"/>
                </a:solidFill>
              </a:rPr>
              <a:t>familiar</a:t>
            </a:r>
            <a:r>
              <a:rPr lang="en-US" altLang="he-IL" dirty="0" smtClean="0"/>
              <a:t> with the </a:t>
            </a:r>
            <a:r>
              <a:rPr lang="en-US" altLang="he-IL" b="1" dirty="0" smtClean="0">
                <a:solidFill>
                  <a:srgbClr val="FF0066"/>
                </a:solidFill>
              </a:rPr>
              <a:t>sequence</a:t>
            </a:r>
          </a:p>
          <a:p>
            <a:pPr>
              <a:buNone/>
            </a:pPr>
            <a:endParaRPr lang="en-US" altLang="he-IL" b="1" dirty="0" smtClean="0">
              <a:solidFill>
                <a:srgbClr val="FF0066"/>
              </a:solidFill>
            </a:endParaRPr>
          </a:p>
          <a:p>
            <a:r>
              <a:rPr lang="en-US" altLang="he-IL" dirty="0" smtClean="0"/>
              <a:t>The off-line algorithm knows the exact properties of all the events in the sequence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4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he-IL" dirty="0" smtClean="0"/>
                  <a:t>We measure the performance of an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on-line</a:t>
                </a:r>
                <a:r>
                  <a:rPr lang="en-US" altLang="he-IL" dirty="0" smtClean="0"/>
                  <a:t> algorithm by the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competitive ratio</a:t>
                </a:r>
                <a:r>
                  <a:rPr lang="en-US" altLang="he-IL" dirty="0" smtClean="0"/>
                  <a:t> </a:t>
                </a:r>
              </a:p>
              <a:p>
                <a:endParaRPr lang="en-US" altLang="he-IL" dirty="0" smtClean="0"/>
              </a:p>
              <a:p>
                <a:r>
                  <a:rPr lang="en-US" altLang="he-IL" dirty="0" smtClean="0"/>
                  <a:t>This is the </a:t>
                </a:r>
                <a:r>
                  <a:rPr lang="en-US" altLang="he-IL" b="1" dirty="0" smtClean="0">
                    <a:solidFill>
                      <a:srgbClr val="990099"/>
                    </a:solidFill>
                  </a:rPr>
                  <a:t>ratio</a:t>
                </a:r>
                <a:r>
                  <a:rPr lang="en-US" altLang="he-IL" dirty="0" smtClean="0"/>
                  <a:t> between what the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on-line</a:t>
                </a:r>
                <a:r>
                  <a:rPr lang="en-US" altLang="he-IL" dirty="0" smtClean="0"/>
                  <a:t> algorithms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“pays”</a:t>
                </a:r>
                <a:r>
                  <a:rPr lang="en-US" altLang="he-IL" dirty="0" smtClean="0"/>
                  <a:t> to what the optimal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off-line</a:t>
                </a:r>
                <a:r>
                  <a:rPr lang="en-US" altLang="he-IL" dirty="0" smtClean="0"/>
                  <a:t> algorithm </a:t>
                </a:r>
                <a:r>
                  <a:rPr lang="en-US" altLang="he-IL" b="1" dirty="0" smtClean="0">
                    <a:solidFill>
                      <a:srgbClr val="FF0066"/>
                    </a:solidFill>
                  </a:rPr>
                  <a:t>“pays”</a:t>
                </a:r>
                <a:endParaRPr lang="en-US" altLang="he-IL" dirty="0" smtClean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𝐶𝑅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/>
                              </a:rPr>
                              <m:t>𝐴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/>
                              </a:rPr>
                              <m:t>𝑂𝑃𝑇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GB" dirty="0" smtClean="0"/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 r="-1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09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Ski Rental 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This is a rent/buy problem.</a:t>
            </a:r>
          </a:p>
          <a:p>
            <a:r>
              <a:rPr lang="en-GB" dirty="0"/>
              <a:t>You are going skiing for an unknown number of </a:t>
            </a:r>
            <a:r>
              <a:rPr lang="en-GB" dirty="0" smtClean="0"/>
              <a:t>days. Assume that </a:t>
            </a:r>
            <a:r>
              <a:rPr lang="en-GB" dirty="0"/>
              <a:t>renting skis costs 500 Taka per day and buying </a:t>
            </a:r>
            <a:r>
              <a:rPr lang="en-GB" dirty="0" smtClean="0"/>
              <a:t> costs 1500 </a:t>
            </a:r>
            <a:r>
              <a:rPr lang="en-GB" dirty="0"/>
              <a:t>Taka. Every day you have to decide whether to </a:t>
            </a:r>
            <a:r>
              <a:rPr lang="en-GB" dirty="0" smtClean="0"/>
              <a:t>continue renting </a:t>
            </a:r>
            <a:r>
              <a:rPr lang="en-GB" dirty="0"/>
              <a:t>skis for one more day or buy a pair of skis. If you </a:t>
            </a:r>
            <a:r>
              <a:rPr lang="en-GB" dirty="0" smtClean="0"/>
              <a:t>know in </a:t>
            </a:r>
            <a:r>
              <a:rPr lang="en-GB" dirty="0"/>
              <a:t>advance how many days you will go skiing, you can </a:t>
            </a:r>
            <a:r>
              <a:rPr lang="en-GB" dirty="0" smtClean="0"/>
              <a:t>decide your </a:t>
            </a:r>
            <a:r>
              <a:rPr lang="en-GB" dirty="0"/>
              <a:t>minimum cost. The question is what to do when you </a:t>
            </a:r>
            <a:r>
              <a:rPr lang="en-GB" dirty="0" smtClean="0"/>
              <a:t>do not </a:t>
            </a:r>
            <a:r>
              <a:rPr lang="en-GB" dirty="0"/>
              <a:t>know in advance how many days you will ski.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65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Algorithm1: Always rent</a:t>
            </a:r>
          </a:p>
          <a:p>
            <a:r>
              <a:rPr lang="en-US" dirty="0" smtClean="0"/>
              <a:t>Algorithm2: Buy at the first day</a:t>
            </a:r>
          </a:p>
          <a:p>
            <a:r>
              <a:rPr lang="en-US" dirty="0" smtClean="0"/>
              <a:t>Algorithm3: Rent for first two days and buy on the third 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1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 Formulation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There is a number of days d (unknown to you) that you will ski</a:t>
            </a:r>
            <a:r>
              <a:rPr lang="en-GB" dirty="0" smtClean="0"/>
              <a:t>. We </a:t>
            </a:r>
            <a:r>
              <a:rPr lang="en-GB" dirty="0"/>
              <a:t>are looking for an algorithm that minimizes the </a:t>
            </a:r>
            <a:r>
              <a:rPr lang="en-GB" dirty="0" smtClean="0"/>
              <a:t>ratio between </a:t>
            </a:r>
            <a:r>
              <a:rPr lang="en-GB" dirty="0"/>
              <a:t>what you pay using the algorithm (that does not </a:t>
            </a:r>
            <a:r>
              <a:rPr lang="en-GB" dirty="0" smtClean="0"/>
              <a:t>know d</a:t>
            </a:r>
            <a:r>
              <a:rPr lang="en-GB" dirty="0"/>
              <a:t>) and what you would pay optimally if you knew d in advance</a:t>
            </a:r>
            <a:r>
              <a:rPr lang="en-GB" dirty="0" smtClean="0"/>
              <a:t>. The </a:t>
            </a:r>
            <a:r>
              <a:rPr lang="en-GB" dirty="0"/>
              <a:t>problem is generally </a:t>
            </a:r>
            <a:r>
              <a:rPr lang="en-GB" dirty="0" err="1"/>
              <a:t>analyzed</a:t>
            </a:r>
            <a:r>
              <a:rPr lang="en-GB" dirty="0"/>
              <a:t> in the worst case, where </a:t>
            </a:r>
            <a:r>
              <a:rPr lang="en-GB" dirty="0" smtClean="0"/>
              <a:t>the algorithm </a:t>
            </a:r>
            <a:r>
              <a:rPr lang="en-GB" dirty="0"/>
              <a:t>is fixed and then we look at the </a:t>
            </a:r>
            <a:r>
              <a:rPr lang="en-GB" dirty="0" smtClean="0"/>
              <a:t>worst-case performance </a:t>
            </a:r>
            <a:r>
              <a:rPr lang="en-GB" dirty="0"/>
              <a:t>of the algorithm over all possible d.</a:t>
            </a:r>
          </a:p>
        </p:txBody>
      </p:sp>
    </p:spTree>
    <p:extLst>
      <p:ext uri="{BB962C8B-B14F-4D97-AF65-F5344CB8AC3E}">
        <p14:creationId xmlns:p14="http://schemas.microsoft.com/office/powerpoint/2010/main" val="210753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he-IL" dirty="0" smtClean="0">
                <a:cs typeface="Times New Roman (Hebrew)" pitchFamily="26" charset="-79"/>
              </a:rPr>
              <a:t>Consider a skier who at each day needs to either rent skis for Taka 1 or buy a pair of skis for Taka </a:t>
            </a:r>
            <a:r>
              <a:rPr lang="en-US" altLang="he-IL" i="1" dirty="0" smtClean="0">
                <a:cs typeface="Times New Roman (Hebrew)" pitchFamily="26" charset="-79"/>
              </a:rPr>
              <a:t>T</a:t>
            </a:r>
            <a:r>
              <a:rPr lang="en-US" altLang="he-IL" dirty="0" smtClean="0">
                <a:cs typeface="Times New Roman (Hebrew)" pitchFamily="26" charset="-79"/>
              </a:rPr>
              <a:t> which he can use for the rest of the ski season.</a:t>
            </a:r>
          </a:p>
          <a:p>
            <a:endParaRPr lang="en-US" altLang="he-IL" dirty="0">
              <a:cs typeface="Times New Roman (Hebrew)" pitchFamily="26" charset="-79"/>
            </a:endParaRPr>
          </a:p>
          <a:p>
            <a:pPr>
              <a:spcBef>
                <a:spcPct val="50000"/>
              </a:spcBef>
            </a:pPr>
            <a:r>
              <a:rPr lang="en-US" altLang="he-IL" b="1" dirty="0" smtClean="0">
                <a:cs typeface="Times New Roman (Hebrew)" pitchFamily="26" charset="-79"/>
              </a:rPr>
              <a:t>Offline Algorithm:</a:t>
            </a:r>
            <a:r>
              <a:rPr lang="en-US" altLang="he-IL" dirty="0" smtClean="0">
                <a:cs typeface="Times New Roman (Hebrew)" pitchFamily="26" charset="-79"/>
              </a:rPr>
              <a:t>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he-IL" dirty="0">
                <a:cs typeface="Times New Roman (Hebrew)" pitchFamily="26" charset="-79"/>
              </a:rPr>
              <a:t> </a:t>
            </a:r>
            <a:r>
              <a:rPr lang="en-US" altLang="he-IL" dirty="0" smtClean="0">
                <a:cs typeface="Times New Roman (Hebrew)" pitchFamily="26" charset="-79"/>
              </a:rPr>
              <a:t>Rent if the length of the season is &lt; </a:t>
            </a:r>
            <a:r>
              <a:rPr lang="en-US" altLang="he-IL" i="1" dirty="0" smtClean="0">
                <a:cs typeface="Times New Roman (Hebrew)" pitchFamily="26" charset="-79"/>
              </a:rPr>
              <a:t>T</a:t>
            </a:r>
            <a:r>
              <a:rPr lang="en-US" altLang="he-IL" dirty="0" smtClean="0">
                <a:cs typeface="Times New Roman (Hebrew)" pitchFamily="26" charset="-79"/>
              </a:rPr>
              <a:t> and buy otherwise.</a:t>
            </a:r>
          </a:p>
          <a:p>
            <a:endParaRPr lang="en-US" altLang="he-IL" dirty="0" smtClean="0">
              <a:cs typeface="Times New Roman (Hebrew)" pitchFamily="26" charset="-79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5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strategy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he-IL" b="1" u="sng" dirty="0" smtClean="0">
                <a:cs typeface="Times New Roman (Hebrew)" pitchFamily="26" charset="-79"/>
              </a:rPr>
              <a:t>Buying on the first day (</a:t>
            </a:r>
            <a:r>
              <a:rPr lang="en-US" altLang="he-IL" b="1" i="1" u="sng" dirty="0" smtClean="0">
                <a:cs typeface="Times New Roman (Hebrew)" pitchFamily="26" charset="-79"/>
              </a:rPr>
              <a:t>k</a:t>
            </a:r>
            <a:r>
              <a:rPr lang="en-US" altLang="he-IL" b="1" u="sng" dirty="0" smtClean="0">
                <a:cs typeface="Times New Roman (Hebrew)" pitchFamily="26" charset="-79"/>
              </a:rPr>
              <a:t> = 1)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he-IL" b="1" dirty="0" smtClean="0">
                <a:cs typeface="Times New Roman (Hebrew)" pitchFamily="26" charset="-79"/>
              </a:rPr>
              <a:t>Claim:</a:t>
            </a:r>
            <a:r>
              <a:rPr lang="en-US" altLang="he-IL" dirty="0" smtClean="0">
                <a:cs typeface="Times New Roman (Hebrew)" pitchFamily="26" charset="-79"/>
              </a:rPr>
              <a:t> This strategy is </a:t>
            </a:r>
            <a:r>
              <a:rPr lang="en-US" altLang="he-IL" b="1" i="1" dirty="0" smtClean="0">
                <a:cs typeface="Times New Roman (Hebrew)" pitchFamily="26" charset="-79"/>
              </a:rPr>
              <a:t>T-Competitive</a:t>
            </a:r>
            <a:endParaRPr lang="en-US" altLang="he-IL" b="1" dirty="0" smtClean="0">
              <a:cs typeface="Times New Roman (Hebrew)" pitchFamily="26" charset="-79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87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 line strategy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 b="1" dirty="0" smtClean="0">
                <a:cs typeface="Times New Roman (Hebrew)" pitchFamily="26" charset="-79"/>
              </a:rPr>
              <a:t>Rent for (</a:t>
            </a:r>
            <a:r>
              <a:rPr lang="en-US" altLang="he-IL" b="1" i="1" dirty="0" smtClean="0">
                <a:cs typeface="Times New Roman (Hebrew)" pitchFamily="26" charset="-79"/>
              </a:rPr>
              <a:t>T</a:t>
            </a:r>
            <a:r>
              <a:rPr lang="en-US" altLang="he-IL" b="1" dirty="0" smtClean="0">
                <a:cs typeface="Times New Roman (Hebrew)" pitchFamily="26" charset="-79"/>
              </a:rPr>
              <a:t> - 1) days and buy on the </a:t>
            </a:r>
            <a:r>
              <a:rPr lang="en-US" altLang="he-IL" b="1" i="1" dirty="0" err="1" smtClean="0">
                <a:cs typeface="Times New Roman (Hebrew)" pitchFamily="26" charset="-79"/>
              </a:rPr>
              <a:t>T</a:t>
            </a:r>
            <a:r>
              <a:rPr lang="en-US" altLang="he-IL" b="1" baseline="30000" dirty="0" err="1" smtClean="0">
                <a:cs typeface="Times New Roman (Hebrew)" pitchFamily="26" charset="-79"/>
              </a:rPr>
              <a:t>th</a:t>
            </a:r>
            <a:r>
              <a:rPr lang="en-US" altLang="he-IL" b="1" dirty="0" smtClean="0">
                <a:cs typeface="Times New Roman (Hebrew)" pitchFamily="26" charset="-79"/>
              </a:rPr>
              <a:t> day</a:t>
            </a:r>
          </a:p>
          <a:p>
            <a:r>
              <a:rPr lang="en-US" altLang="he-IL" dirty="0" smtClean="0">
                <a:cs typeface="Times New Roman (Hebrew)" pitchFamily="26" charset="-79"/>
              </a:rPr>
              <a:t>This algorithm is </a:t>
            </a:r>
            <a:r>
              <a:rPr lang="en-US" altLang="he-IL" b="1" i="1" dirty="0" smtClean="0">
                <a:cs typeface="Times New Roman (Hebrew)" pitchFamily="26" charset="-79"/>
              </a:rPr>
              <a:t>(</a:t>
            </a:r>
            <a:r>
              <a:rPr lang="en-US" altLang="he-IL" b="1" dirty="0" smtClean="0">
                <a:cs typeface="Times New Roman (Hebrew)" pitchFamily="26" charset="-79"/>
              </a:rPr>
              <a:t>2</a:t>
            </a:r>
            <a:r>
              <a:rPr lang="en-US" altLang="he-IL" b="1" i="1" dirty="0" smtClean="0">
                <a:cs typeface="Times New Roman (Hebrew)" pitchFamily="26" charset="-79"/>
              </a:rPr>
              <a:t> - </a:t>
            </a:r>
            <a:r>
              <a:rPr lang="en-US" altLang="he-IL" b="1" i="1" baseline="30000" dirty="0" smtClean="0">
                <a:cs typeface="Times New Roman (Hebrew)" pitchFamily="26" charset="-79"/>
              </a:rPr>
              <a:t>1</a:t>
            </a:r>
            <a:r>
              <a:rPr lang="en-US" altLang="he-IL" b="1" i="1" dirty="0" smtClean="0">
                <a:cs typeface="Times New Roman (Hebrew)" pitchFamily="26" charset="-79"/>
              </a:rPr>
              <a:t>/</a:t>
            </a:r>
            <a:r>
              <a:rPr lang="en-US" altLang="he-IL" b="1" i="1" baseline="-25000" dirty="0" smtClean="0">
                <a:cs typeface="Times New Roman (Hebrew)" pitchFamily="26" charset="-79"/>
              </a:rPr>
              <a:t>T</a:t>
            </a:r>
            <a:r>
              <a:rPr lang="en-US" altLang="he-IL" b="1" i="1" dirty="0" smtClean="0">
                <a:cs typeface="Times New Roman (Hebrew)" pitchFamily="26" charset="-79"/>
              </a:rPr>
              <a:t>)-</a:t>
            </a:r>
            <a:r>
              <a:rPr lang="en-US" altLang="he-IL" b="1" dirty="0" smtClean="0">
                <a:cs typeface="Times New Roman (Hebrew)" pitchFamily="26" charset="-79"/>
              </a:rPr>
              <a:t>Competitive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26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 line strategy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 b="1" dirty="0" smtClean="0">
                <a:cs typeface="Times New Roman (Hebrew)" pitchFamily="26" charset="-79"/>
              </a:rPr>
              <a:t>Rent for (</a:t>
            </a:r>
            <a:r>
              <a:rPr lang="en-US" altLang="he-IL" b="1" i="1" dirty="0" smtClean="0">
                <a:cs typeface="Times New Roman (Hebrew)" pitchFamily="26" charset="-79"/>
              </a:rPr>
              <a:t>T</a:t>
            </a:r>
            <a:r>
              <a:rPr lang="en-US" altLang="he-IL" b="1" dirty="0" smtClean="0">
                <a:cs typeface="Times New Roman (Hebrew)" pitchFamily="26" charset="-79"/>
              </a:rPr>
              <a:t> - 1) days and buy on the </a:t>
            </a:r>
            <a:r>
              <a:rPr lang="en-US" altLang="he-IL" b="1" i="1" dirty="0" err="1" smtClean="0">
                <a:cs typeface="Times New Roman (Hebrew)" pitchFamily="26" charset="-79"/>
              </a:rPr>
              <a:t>T</a:t>
            </a:r>
            <a:r>
              <a:rPr lang="en-US" altLang="he-IL" b="1" baseline="30000" dirty="0" err="1" smtClean="0">
                <a:cs typeface="Times New Roman (Hebrew)" pitchFamily="26" charset="-79"/>
              </a:rPr>
              <a:t>th</a:t>
            </a:r>
            <a:r>
              <a:rPr lang="en-US" altLang="he-IL" b="1" dirty="0" smtClean="0">
                <a:cs typeface="Times New Roman (Hebrew)" pitchFamily="26" charset="-79"/>
              </a:rPr>
              <a:t> day</a:t>
            </a:r>
          </a:p>
          <a:p>
            <a:r>
              <a:rPr lang="en-US" altLang="he-IL" smtClean="0">
                <a:cs typeface="Times New Roman (Hebrew)" pitchFamily="26" charset="-79"/>
              </a:rPr>
              <a:t>This algorithm is </a:t>
            </a:r>
            <a:r>
              <a:rPr lang="en-US" altLang="he-IL" b="1" i="1" smtClean="0">
                <a:cs typeface="Times New Roman (Hebrew)" pitchFamily="26" charset="-79"/>
              </a:rPr>
              <a:t>(</a:t>
            </a:r>
            <a:r>
              <a:rPr lang="en-US" altLang="he-IL" b="1" smtClean="0">
                <a:cs typeface="Times New Roman (Hebrew)" pitchFamily="26" charset="-79"/>
              </a:rPr>
              <a:t>2</a:t>
            </a:r>
            <a:r>
              <a:rPr lang="en-US" altLang="he-IL" b="1" i="1" smtClean="0">
                <a:cs typeface="Times New Roman (Hebrew)" pitchFamily="26" charset="-79"/>
              </a:rPr>
              <a:t> - </a:t>
            </a:r>
            <a:r>
              <a:rPr lang="en-US" altLang="he-IL" b="1" i="1" baseline="30000" smtClean="0">
                <a:cs typeface="Times New Roman (Hebrew)" pitchFamily="26" charset="-79"/>
              </a:rPr>
              <a:t>1</a:t>
            </a:r>
            <a:r>
              <a:rPr lang="en-US" altLang="he-IL" b="1" i="1" smtClean="0">
                <a:cs typeface="Times New Roman (Hebrew)" pitchFamily="26" charset="-79"/>
              </a:rPr>
              <a:t>/</a:t>
            </a:r>
            <a:r>
              <a:rPr lang="en-US" altLang="he-IL" b="1" i="1" baseline="-25000" smtClean="0">
                <a:cs typeface="Times New Roman (Hebrew)" pitchFamily="26" charset="-79"/>
              </a:rPr>
              <a:t>T</a:t>
            </a:r>
            <a:r>
              <a:rPr lang="en-US" altLang="he-IL" b="1" i="1" smtClean="0">
                <a:cs typeface="Times New Roman (Hebrew)" pitchFamily="26" charset="-79"/>
              </a:rPr>
              <a:t>)-</a:t>
            </a:r>
            <a:r>
              <a:rPr lang="en-US" altLang="he-IL" b="1" smtClean="0">
                <a:cs typeface="Times New Roman (Hebrew)" pitchFamily="26" charset="-79"/>
              </a:rPr>
              <a:t>Competitive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62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List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a set of items in a list where the cost of  accessing an item is proportional to the distance from the head of the list i.e. a linked list, and a request sequence of accesses, the problem is to come up with a strategy of reordering the list so that the total cost of access is minimized.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41" y="5400592"/>
            <a:ext cx="5502117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List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Input: Initial list, l = (1, 2, 3, .., n) and sequence of requests i</a:t>
            </a:r>
            <a:r>
              <a:rPr lang="en-US" baseline="-25000" dirty="0" smtClean="0"/>
              <a:t>1</a:t>
            </a:r>
            <a:r>
              <a:rPr lang="en-US" dirty="0" smtClean="0"/>
              <a:t>, i</a:t>
            </a:r>
            <a:r>
              <a:rPr lang="en-US" baseline="-25000" dirty="0" smtClean="0"/>
              <a:t>2</a:t>
            </a:r>
            <a:r>
              <a:rPr lang="en-US" dirty="0" smtClean="0"/>
              <a:t>, i</a:t>
            </a:r>
            <a:r>
              <a:rPr lang="en-US" baseline="-25000" dirty="0" smtClean="0"/>
              <a:t>3</a:t>
            </a:r>
            <a:r>
              <a:rPr lang="en-US" dirty="0" smtClean="0"/>
              <a:t>…</a:t>
            </a:r>
          </a:p>
          <a:p>
            <a:pPr marL="0" indent="0">
              <a:buNone/>
            </a:pPr>
            <a:r>
              <a:rPr lang="en-US" dirty="0" smtClean="0"/>
              <a:t>Action: Search item </a:t>
            </a:r>
            <a:r>
              <a:rPr lang="en-US" dirty="0" err="1" smtClean="0"/>
              <a:t>i</a:t>
            </a:r>
            <a:r>
              <a:rPr lang="en-US" baseline="-25000" dirty="0" err="1" smtClean="0"/>
              <a:t>j</a:t>
            </a:r>
            <a:endParaRPr lang="en-US" baseline="-25000" dirty="0" smtClean="0"/>
          </a:p>
          <a:p>
            <a:pPr marL="0" indent="0">
              <a:buNone/>
            </a:pPr>
            <a:r>
              <a:rPr lang="en-US" dirty="0" smtClean="0"/>
              <a:t>Goal: minimize the total cost</a:t>
            </a:r>
          </a:p>
          <a:p>
            <a:pPr marL="0" indent="0">
              <a:buNone/>
            </a:pPr>
            <a:r>
              <a:rPr lang="en-US" dirty="0" smtClean="0"/>
              <a:t>Strategy: move the access item forward</a:t>
            </a:r>
          </a:p>
          <a:p>
            <a:pPr marL="0" indent="0">
              <a:buNone/>
            </a:pPr>
            <a:r>
              <a:rPr lang="en-US" dirty="0" smtClean="0"/>
              <a:t>Linked list -&gt; toward head</a:t>
            </a:r>
          </a:p>
          <a:p>
            <a:pPr marL="0" indent="0">
              <a:buNone/>
            </a:pPr>
            <a:r>
              <a:rPr lang="en-US" dirty="0" smtClean="0"/>
              <a:t>How many position?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38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Strategy: Move the accessed item forward by 2 positions.</a:t>
            </a:r>
          </a:p>
          <a:p>
            <a:pPr marL="0" indent="0">
              <a:buNone/>
            </a:pPr>
            <a:r>
              <a:rPr lang="en-US" dirty="0"/>
              <a:t>List: 1, 2, 3, .., n</a:t>
            </a:r>
          </a:p>
          <a:p>
            <a:pPr marL="0" indent="0">
              <a:buNone/>
            </a:pPr>
            <a:r>
              <a:rPr lang="en-US" dirty="0"/>
              <a:t>Requests: n, n, n, n, …. (n times)</a:t>
            </a:r>
          </a:p>
          <a:p>
            <a:pPr marL="0" indent="0">
              <a:buNone/>
            </a:pPr>
            <a:r>
              <a:rPr lang="en-US" dirty="0"/>
              <a:t>Cost</a:t>
            </a:r>
            <a:r>
              <a:rPr lang="en-US" dirty="0" smtClean="0"/>
              <a:t>: n + (n-2) + (n-4) + …….=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7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507288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Strategy: Move the accessed item forward by 2 positions.</a:t>
            </a:r>
          </a:p>
          <a:p>
            <a:pPr marL="0" indent="0">
              <a:buNone/>
            </a:pPr>
            <a:r>
              <a:rPr lang="en-US" dirty="0"/>
              <a:t>List: 1, 2, 3, .., n</a:t>
            </a:r>
          </a:p>
          <a:p>
            <a:pPr marL="0" indent="0">
              <a:buNone/>
            </a:pPr>
            <a:r>
              <a:rPr lang="en-US" dirty="0"/>
              <a:t>Requests: n, n, n, n, …. (n times)</a:t>
            </a:r>
          </a:p>
          <a:p>
            <a:pPr marL="0" indent="0">
              <a:buNone/>
            </a:pPr>
            <a:r>
              <a:rPr lang="en-US" dirty="0"/>
              <a:t>Cost</a:t>
            </a:r>
            <a:r>
              <a:rPr lang="en-US" dirty="0" smtClean="0"/>
              <a:t>: n + (n-2) + (n-4) + …….= cn</a:t>
            </a:r>
            <a:r>
              <a:rPr lang="en-US" baseline="30000" dirty="0"/>
              <a:t>2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Optimal: n +1 + 1+ ….+1= 2n-1 &lt;2n</a:t>
            </a:r>
          </a:p>
          <a:p>
            <a:pPr marL="0" indent="0">
              <a:buNone/>
            </a:pPr>
            <a:r>
              <a:rPr lang="en-US" dirty="0"/>
              <a:t>CR &gt; </a:t>
            </a:r>
            <a:r>
              <a:rPr lang="en-US" dirty="0" err="1"/>
              <a:t>cn</a:t>
            </a:r>
            <a:r>
              <a:rPr lang="en-US" dirty="0"/>
              <a:t>/2</a:t>
            </a:r>
          </a:p>
          <a:p>
            <a:pPr marL="0" indent="0">
              <a:buNone/>
            </a:pPr>
            <a:r>
              <a:rPr lang="en-US" dirty="0"/>
              <a:t>CR=&gt; </a:t>
            </a:r>
            <a:r>
              <a:rPr lang="en-US" dirty="0">
                <a:sym typeface="Symbol" panose="05050102010706020507" pitchFamily="18" charset="2"/>
              </a:rPr>
              <a:t>infinite if n=&gt; infinite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0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Strategy: Move to front</a:t>
            </a:r>
          </a:p>
          <a:p>
            <a:r>
              <a:rPr lang="en-US" dirty="0" smtClean="0"/>
              <a:t>After accessing an  item move it to the front of the list without changing the order of other items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72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Strategy: Move </a:t>
            </a:r>
            <a:r>
              <a:rPr lang="en-US" dirty="0"/>
              <a:t>T</a:t>
            </a:r>
            <a:r>
              <a:rPr lang="en-US" dirty="0" smtClean="0"/>
              <a:t>o Front (MTF)</a:t>
            </a:r>
          </a:p>
          <a:p>
            <a:r>
              <a:rPr lang="en-US" dirty="0" smtClean="0"/>
              <a:t>After accessing an  item move it to the front of the list without changing the order of other items</a:t>
            </a:r>
          </a:p>
          <a:p>
            <a:r>
              <a:rPr lang="en-US" dirty="0" smtClean="0"/>
              <a:t>Theorem: MTF has a CR of 2.0</a:t>
            </a:r>
          </a:p>
          <a:p>
            <a:r>
              <a:rPr lang="en-US" dirty="0" smtClean="0"/>
              <a:t>Proof:  We do not know the optimal algorithm but we  need to compute CR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72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5904656"/>
          </a:xfrm>
        </p:spPr>
        <p:txBody>
          <a:bodyPr/>
          <a:lstStyle/>
          <a:p>
            <a:r>
              <a:rPr lang="en-US" dirty="0" smtClean="0"/>
              <a:t>We compare two algorithms: OPT (which we do not know) and MTF</a:t>
            </a:r>
          </a:p>
          <a:p>
            <a:r>
              <a:rPr lang="en-US" dirty="0" smtClean="0"/>
              <a:t>At the beginning:</a:t>
            </a:r>
          </a:p>
          <a:p>
            <a:r>
              <a:rPr lang="en-US" dirty="0" smtClean="0"/>
              <a:t>OPT: 1, 2, 3, ……, n</a:t>
            </a:r>
          </a:p>
          <a:p>
            <a:r>
              <a:rPr lang="en-US" dirty="0" smtClean="0"/>
              <a:t>MTF: 1, 2, 3, …., n</a:t>
            </a:r>
          </a:p>
          <a:p>
            <a:r>
              <a:rPr lang="en-US" dirty="0" smtClean="0"/>
              <a:t>At step j: The cost of MTF is k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149080"/>
            <a:ext cx="6669132" cy="253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74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5904656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i="1" dirty="0" smtClean="0"/>
              <a:t>x</a:t>
            </a:r>
            <a:r>
              <a:rPr lang="en-US" baseline="-25000" dirty="0" smtClean="0"/>
              <a:t>i</a:t>
            </a:r>
            <a:r>
              <a:rPr lang="en-US" dirty="0" smtClean="0"/>
              <a:t>: number of item which are after </a:t>
            </a:r>
            <a:r>
              <a:rPr lang="en-US" dirty="0" err="1" smtClean="0"/>
              <a:t>i</a:t>
            </a:r>
            <a:r>
              <a:rPr lang="en-US" dirty="0" smtClean="0"/>
              <a:t> in OPT and before </a:t>
            </a:r>
            <a:r>
              <a:rPr lang="en-US" dirty="0" err="1" smtClean="0"/>
              <a:t>i</a:t>
            </a:r>
            <a:r>
              <a:rPr lang="en-US" dirty="0" smtClean="0"/>
              <a:t> in MTF list</a:t>
            </a:r>
          </a:p>
          <a:p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r>
              <a:rPr lang="en-US" dirty="0" smtClean="0"/>
              <a:t>: </a:t>
            </a:r>
            <a:r>
              <a:rPr lang="en-US" dirty="0"/>
              <a:t>number of item which are </a:t>
            </a:r>
            <a:r>
              <a:rPr lang="en-US" dirty="0" smtClean="0"/>
              <a:t>before </a:t>
            </a:r>
            <a:r>
              <a:rPr lang="en-US" dirty="0" err="1"/>
              <a:t>i</a:t>
            </a:r>
            <a:r>
              <a:rPr lang="en-US" dirty="0"/>
              <a:t> in OPT and </a:t>
            </a:r>
            <a:r>
              <a:rPr lang="en-US" dirty="0" smtClean="0"/>
              <a:t>after </a:t>
            </a:r>
            <a:r>
              <a:rPr lang="en-US" dirty="0" err="1"/>
              <a:t>i</a:t>
            </a:r>
            <a:r>
              <a:rPr lang="en-US" dirty="0"/>
              <a:t> in MTF list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92696"/>
            <a:ext cx="6264696" cy="238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53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5904656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Amortized cost, T(j) = k + INV(j+1) - INV(j)</a:t>
            </a:r>
          </a:p>
          <a:p>
            <a:r>
              <a:rPr lang="en-US" dirty="0" smtClean="0"/>
              <a:t>INV(j): number of item pairs (a, b) such that the order of a and b is different between the OPT and the MTF lists at time j.</a:t>
            </a:r>
          </a:p>
          <a:p>
            <a:r>
              <a:rPr lang="en-US" dirty="0" smtClean="0"/>
              <a:t>OPT: ………a…..b……</a:t>
            </a:r>
          </a:p>
          <a:p>
            <a:r>
              <a:rPr lang="en-US" dirty="0" smtClean="0"/>
              <a:t>MTF: ………b……a…..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92696"/>
            <a:ext cx="6264696" cy="238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18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5904656"/>
          </a:xfrm>
        </p:spPr>
        <p:txBody>
          <a:bodyPr/>
          <a:lstStyle/>
          <a:p>
            <a:r>
              <a:rPr lang="en-US" dirty="0" smtClean="0"/>
              <a:t>T(j) = k + (k-x</a:t>
            </a:r>
            <a:r>
              <a:rPr lang="en-US" baseline="-25000" dirty="0" smtClean="0"/>
              <a:t>i</a:t>
            </a:r>
            <a:r>
              <a:rPr lang="en-US" dirty="0"/>
              <a:t> </a:t>
            </a:r>
            <a:r>
              <a:rPr lang="en-US" dirty="0" smtClean="0"/>
              <a:t>+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r>
              <a:rPr lang="en-US" dirty="0" smtClean="0"/>
              <a:t>-</a:t>
            </a:r>
            <a:r>
              <a:rPr lang="en-US" dirty="0" smtClean="0">
                <a:sym typeface="Symbol" panose="05050102010706020507" pitchFamily="18" charset="2"/>
              </a:rPr>
              <a:t>) – (x</a:t>
            </a:r>
            <a:r>
              <a:rPr lang="en-US" baseline="-25000" dirty="0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 +</a:t>
            </a:r>
            <a:r>
              <a:rPr lang="en-US" dirty="0" err="1" smtClean="0">
                <a:sym typeface="Symbol" panose="05050102010706020507" pitchFamily="18" charset="2"/>
              </a:rPr>
              <a:t>y</a:t>
            </a:r>
            <a:r>
              <a:rPr lang="en-US" baseline="-25000" dirty="0" err="1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)</a:t>
            </a:r>
          </a:p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   =2k – 2x</a:t>
            </a:r>
            <a:r>
              <a:rPr lang="en-US" baseline="-25000" dirty="0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-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</a:t>
            </a:r>
          </a:p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   &lt;= 2k – 2x</a:t>
            </a:r>
            <a:r>
              <a:rPr lang="en-US" baseline="-25000" dirty="0" smtClean="0">
                <a:sym typeface="Symbol" panose="05050102010706020507" pitchFamily="18" charset="2"/>
              </a:rPr>
              <a:t>i</a:t>
            </a:r>
          </a:p>
          <a:p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baseline="-25000" dirty="0" smtClean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   &lt;= 2i</a:t>
            </a:r>
          </a:p>
          <a:p>
            <a:r>
              <a:rPr lang="en-US" dirty="0" smtClean="0">
                <a:sym typeface="Symbol" panose="05050102010706020507" pitchFamily="18" charset="2"/>
              </a:rPr>
              <a:t>Cost of optimal is at most </a:t>
            </a:r>
            <a:r>
              <a:rPr lang="en-US" dirty="0" err="1" smtClean="0">
                <a:sym typeface="Symbol" panose="05050102010706020507" pitchFamily="18" charset="2"/>
              </a:rPr>
              <a:t>i</a:t>
            </a:r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 T(1) = k</a:t>
            </a:r>
            <a:r>
              <a:rPr lang="en-US" baseline="-25000" dirty="0" smtClean="0">
                <a:sym typeface="Symbol" panose="05050102010706020507" pitchFamily="18" charset="2"/>
              </a:rPr>
              <a:t>1</a:t>
            </a:r>
            <a:r>
              <a:rPr lang="en-US" dirty="0" smtClean="0">
                <a:sym typeface="Symbol" panose="05050102010706020507" pitchFamily="18" charset="2"/>
              </a:rPr>
              <a:t> + INV(2) – INV(1)</a:t>
            </a:r>
          </a:p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smtClean="0">
                <a:sym typeface="Symbol" panose="05050102010706020507" pitchFamily="18" charset="2"/>
              </a:rPr>
              <a:t> T(2) = K</a:t>
            </a:r>
            <a:r>
              <a:rPr lang="en-US" baseline="-25000" dirty="0" smtClean="0">
                <a:sym typeface="Symbol" panose="05050102010706020507" pitchFamily="18" charset="2"/>
              </a:rPr>
              <a:t>2</a:t>
            </a:r>
            <a:r>
              <a:rPr lang="en-US" dirty="0" smtClean="0">
                <a:sym typeface="Symbol" panose="05050102010706020507" pitchFamily="18" charset="2"/>
              </a:rPr>
              <a:t> + INV(3) – INV(2)</a:t>
            </a:r>
          </a:p>
          <a:p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r>
              <a:rPr lang="en-US" dirty="0" smtClean="0">
                <a:sym typeface="Symbol" panose="05050102010706020507" pitchFamily="18" charset="2"/>
              </a:rPr>
              <a:t>.</a:t>
            </a:r>
          </a:p>
          <a:p>
            <a:r>
              <a:rPr lang="en-US" dirty="0" smtClean="0">
                <a:sym typeface="Symbol" panose="05050102010706020507" pitchFamily="18" charset="2"/>
              </a:rPr>
              <a:t>T(m) = k</a:t>
            </a:r>
            <a:r>
              <a:rPr lang="en-US" baseline="-25000" dirty="0" smtClean="0">
                <a:sym typeface="Symbol" panose="05050102010706020507" pitchFamily="18" charset="2"/>
              </a:rPr>
              <a:t>m</a:t>
            </a:r>
            <a:r>
              <a:rPr lang="en-US" dirty="0" smtClean="0">
                <a:sym typeface="Symbol" panose="05050102010706020507" pitchFamily="18" charset="2"/>
              </a:rPr>
              <a:t>+ INV(m+1) – INV(m)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374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Algorithm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5904656"/>
          </a:xfrm>
        </p:spPr>
        <p:txBody>
          <a:bodyPr/>
          <a:lstStyle/>
          <a:p>
            <a:r>
              <a:rPr lang="en-US" dirty="0" smtClean="0"/>
              <a:t>T(1) + T(2) + …+T(m) = k</a:t>
            </a:r>
            <a:r>
              <a:rPr lang="en-US" baseline="-25000" dirty="0" smtClean="0"/>
              <a:t>1</a:t>
            </a:r>
            <a:r>
              <a:rPr lang="en-US" dirty="0" smtClean="0"/>
              <a:t>+ k</a:t>
            </a:r>
            <a:r>
              <a:rPr lang="en-US" baseline="-25000" dirty="0" smtClean="0"/>
              <a:t>2</a:t>
            </a:r>
            <a:r>
              <a:rPr lang="en-US" dirty="0" smtClean="0"/>
              <a:t> + …..+k</a:t>
            </a:r>
            <a:r>
              <a:rPr lang="en-US" baseline="-25000" dirty="0" smtClean="0"/>
              <a:t>m</a:t>
            </a:r>
            <a:r>
              <a:rPr lang="en-US" dirty="0" smtClean="0"/>
              <a:t> + INV(m+1) – INV(1)</a:t>
            </a:r>
          </a:p>
          <a:p>
            <a:r>
              <a:rPr lang="en-US" dirty="0" smtClean="0"/>
              <a:t>In the initial step INV(1) = 0</a:t>
            </a:r>
          </a:p>
          <a:p>
            <a:r>
              <a:rPr lang="en-US" dirty="0" smtClean="0"/>
              <a:t>K</a:t>
            </a:r>
            <a:r>
              <a:rPr lang="en-US" baseline="-25000" dirty="0" smtClean="0"/>
              <a:t>1</a:t>
            </a:r>
            <a:r>
              <a:rPr lang="en-US" dirty="0" smtClean="0"/>
              <a:t>+k</a:t>
            </a:r>
            <a:r>
              <a:rPr lang="en-US" baseline="-25000" dirty="0" smtClean="0"/>
              <a:t>2</a:t>
            </a:r>
            <a:r>
              <a:rPr lang="en-US" dirty="0" smtClean="0"/>
              <a:t>+….+k</a:t>
            </a:r>
            <a:r>
              <a:rPr lang="en-US" baseline="-25000" dirty="0" smtClean="0"/>
              <a:t>m</a:t>
            </a:r>
            <a:r>
              <a:rPr lang="en-US" dirty="0" smtClean="0"/>
              <a:t> = T(1) + T(2)+ …+T(m) –INV(m+1)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&lt;=T(1) + T(2) + …+T(m)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&lt;=2OPT</a:t>
            </a:r>
          </a:p>
        </p:txBody>
      </p:sp>
    </p:spTree>
    <p:extLst>
      <p:ext uri="{BB962C8B-B14F-4D97-AF65-F5344CB8AC3E}">
        <p14:creationId xmlns:p14="http://schemas.microsoft.com/office/powerpoint/2010/main" val="2851837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algorithm has CR better than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Consider an algorithm A.</a:t>
            </a:r>
          </a:p>
          <a:p>
            <a:pPr marL="0" indent="0">
              <a:buNone/>
            </a:pPr>
            <a:r>
              <a:rPr lang="en-US" dirty="0" smtClean="0"/>
              <a:t>Consider an adversary against A</a:t>
            </a:r>
          </a:p>
          <a:p>
            <a:pPr marL="0" indent="0">
              <a:buNone/>
            </a:pPr>
            <a:r>
              <a:rPr lang="en-US" dirty="0" smtClean="0"/>
              <a:t>Request sequence is generated by adversary</a:t>
            </a:r>
          </a:p>
          <a:p>
            <a:pPr marL="0" indent="0">
              <a:buNone/>
            </a:pPr>
            <a:r>
              <a:rPr lang="en-US" dirty="0" smtClean="0"/>
              <a:t>(n, x1, x2…)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 2 3 …… n</a:t>
            </a:r>
          </a:p>
          <a:p>
            <a:pPr marL="0" indent="0">
              <a:buNone/>
            </a:pPr>
            <a:r>
              <a:rPr lang="en-US" dirty="0" smtClean="0"/>
              <a:t>What is the worst case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96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of optimal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Consider there is a sequence of request </a:t>
            </a:r>
            <a:r>
              <a:rPr lang="en-US" dirty="0" smtClean="0">
                <a:sym typeface="Symbol" panose="05050102010706020507" pitchFamily="18" charset="2"/>
              </a:rPr>
              <a:t> = x1, x2, …., </a:t>
            </a:r>
            <a:r>
              <a:rPr lang="en-US" dirty="0" err="1" smtClean="0">
                <a:sym typeface="Symbol" panose="05050102010706020507" pitchFamily="18" charset="2"/>
              </a:rPr>
              <a:t>xm</a:t>
            </a:r>
            <a:r>
              <a:rPr lang="en-US" dirty="0" smtClean="0">
                <a:sym typeface="Symbol" panose="05050102010706020507" pitchFamily="18" charset="2"/>
              </a:rPr>
              <a:t> for which the at most cost is </a:t>
            </a:r>
            <a:r>
              <a:rPr lang="en-US" dirty="0" err="1" smtClean="0">
                <a:sym typeface="Symbol" panose="05050102010706020507" pitchFamily="18" charset="2"/>
              </a:rPr>
              <a:t>mn</a:t>
            </a:r>
            <a:r>
              <a:rPr lang="en-US" dirty="0" smtClean="0">
                <a:sym typeface="Symbol" panose="05050102010706020507" pitchFamily="18" charset="2"/>
              </a:rPr>
              <a:t>/2</a:t>
            </a:r>
          </a:p>
          <a:p>
            <a:pPr marL="0" indent="0">
              <a:buNone/>
            </a:pPr>
            <a:r>
              <a:rPr lang="en-US" dirty="0" smtClean="0">
                <a:sym typeface="Symbol" panose="05050102010706020507" pitchFamily="18" charset="2"/>
              </a:rPr>
              <a:t>Now we consider offline algorithm O who knows . We do not know, how does O work?  How ever we can prove that for any Input sequence , there exists O such that the cost is ≤ nm/2. Generate all possible permutation of requests. At least one permutation gives the optimal solution. For a given , computes a best permutation  of (1, n) and does not change it all.</a:t>
            </a:r>
          </a:p>
          <a:p>
            <a:pPr marL="0" indent="0"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659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2883"/>
            <a:ext cx="9108504" cy="7225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dirty="0" smtClean="0">
                <a:latin typeface="NimbusRomNo9L-Medi"/>
              </a:rPr>
              <a:t>Theorem: </a:t>
            </a:r>
            <a:r>
              <a:rPr lang="en-US" sz="2400" dirty="0" smtClean="0">
                <a:latin typeface="NimbusRomNo9L-ReguItal"/>
              </a:rPr>
              <a:t>No </a:t>
            </a:r>
            <a:r>
              <a:rPr lang="en-US" sz="2400" dirty="0">
                <a:latin typeface="NimbusRomNo9L-ReguItal"/>
              </a:rPr>
              <a:t>algorithm for the linear list search problem has a CR better </a:t>
            </a:r>
            <a:r>
              <a:rPr lang="en-US" sz="2400" dirty="0" smtClean="0">
                <a:latin typeface="NimbusRomNo9L-ReguItal"/>
              </a:rPr>
              <a:t>than </a:t>
            </a:r>
            <a:r>
              <a:rPr lang="en-US" sz="2400" dirty="0" smtClean="0">
                <a:latin typeface="NimbusRomNo9L-Regu"/>
              </a:rPr>
              <a:t>2 </a:t>
            </a:r>
            <a:r>
              <a:rPr lang="en-US" sz="2400" dirty="0" smtClean="0">
                <a:latin typeface="txsy"/>
              </a:rPr>
              <a:t>−2/(n+1)</a:t>
            </a:r>
            <a:r>
              <a:rPr lang="en-US" sz="2400" dirty="0" smtClean="0">
                <a:latin typeface="NimbusRomNo9L-Regu"/>
              </a:rPr>
              <a:t> </a:t>
            </a:r>
            <a:r>
              <a:rPr lang="en-US" sz="2400" dirty="0">
                <a:latin typeface="NimbusRomNo9L-ReguItal"/>
              </a:rPr>
              <a:t>, where n is the number of items in the list</a:t>
            </a:r>
            <a:r>
              <a:rPr lang="en-US" sz="2400" dirty="0" smtClean="0">
                <a:latin typeface="NimbusRomNo9L-ReguItal"/>
              </a:rPr>
              <a:t>.</a:t>
            </a:r>
          </a:p>
          <a:p>
            <a:pPr>
              <a:lnSpc>
                <a:spcPct val="114000"/>
              </a:lnSpc>
            </a:pPr>
            <a:endParaRPr lang="en-US" sz="2400" dirty="0">
              <a:latin typeface="NimbusRomNo9L-ReguItal"/>
            </a:endParaRPr>
          </a:p>
          <a:p>
            <a:pPr>
              <a:lnSpc>
                <a:spcPct val="114000"/>
              </a:lnSpc>
            </a:pPr>
            <a:r>
              <a:rPr lang="en-US" sz="2400" dirty="0" smtClean="0">
                <a:latin typeface="NimbusRomNo9L-MediItal"/>
              </a:rPr>
              <a:t>Proof: </a:t>
            </a:r>
            <a:r>
              <a:rPr lang="en-US" sz="2400" dirty="0">
                <a:latin typeface="NimbusRomNo9L-Regu"/>
              </a:rPr>
              <a:t>Consider any online algorithm </a:t>
            </a:r>
            <a:r>
              <a:rPr lang="en-US" sz="2400" dirty="0">
                <a:latin typeface="NimbusRomNo9L-ReguItal"/>
              </a:rPr>
              <a:t>A </a:t>
            </a:r>
            <a:r>
              <a:rPr lang="en-US" sz="2400" dirty="0">
                <a:latin typeface="NimbusRomNo9L-Regu"/>
              </a:rPr>
              <a:t>and also consider an </a:t>
            </a:r>
            <a:r>
              <a:rPr lang="en-US" sz="2400" dirty="0" smtClean="0">
                <a:latin typeface="NimbusRomNo9L-Regu"/>
              </a:rPr>
              <a:t>adversary</a:t>
            </a:r>
            <a:r>
              <a:rPr lang="en-US" sz="2400" dirty="0">
                <a:latin typeface="NimbusRomNo9L-Regu"/>
              </a:rPr>
              <a:t>” </a:t>
            </a:r>
            <a:r>
              <a:rPr lang="en-US" sz="2400" dirty="0" smtClean="0">
                <a:latin typeface="NimbusRomNo9L-Regu"/>
              </a:rPr>
              <a:t>playing against </a:t>
            </a:r>
            <a:r>
              <a:rPr lang="en-US" sz="2400" dirty="0">
                <a:latin typeface="NimbusRomNo9L-ReguItal"/>
              </a:rPr>
              <a:t>A</a:t>
            </a:r>
            <a:r>
              <a:rPr lang="en-US" sz="2400" dirty="0">
                <a:latin typeface="NimbusRomNo9L-Regu"/>
              </a:rPr>
              <a:t>. The adversary gives </a:t>
            </a:r>
            <a:r>
              <a:rPr lang="en-US" sz="2400" dirty="0">
                <a:latin typeface="NimbusRomNo9L-ReguItal"/>
              </a:rPr>
              <a:t>A </a:t>
            </a:r>
            <a:r>
              <a:rPr lang="en-US" sz="2400" dirty="0">
                <a:latin typeface="NimbusRomNo9L-Regu"/>
              </a:rPr>
              <a:t>malicious requests. Let the item in the lists </a:t>
            </a:r>
            <a:r>
              <a:rPr lang="en-US" sz="2400" dirty="0" smtClean="0">
                <a:latin typeface="NimbusRomNo9L-Regu"/>
              </a:rPr>
              <a:t>be labeled </a:t>
            </a:r>
            <a:r>
              <a:rPr lang="en-US" sz="2400" dirty="0">
                <a:latin typeface="NimbusRomNo9L-Regu"/>
              </a:rPr>
              <a:t>as 1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NimbusRomNo9L-Regu"/>
              </a:rPr>
              <a:t>2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NimbusRomNo9L-Regu"/>
              </a:rPr>
              <a:t>3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txsy"/>
              </a:rPr>
              <a:t>・ ・ ・ 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NimbusRomNo9L-ReguItal"/>
              </a:rPr>
              <a:t>n </a:t>
            </a:r>
            <a:r>
              <a:rPr lang="en-US" sz="2400" dirty="0">
                <a:latin typeface="NimbusRomNo9L-Regu"/>
              </a:rPr>
              <a:t>and they are in this order in the initial list. Let the </a:t>
            </a:r>
            <a:r>
              <a:rPr lang="en-US" sz="2400" dirty="0" smtClean="0">
                <a:latin typeface="NimbusRomNo9L-Regu"/>
              </a:rPr>
              <a:t>malicious requests </a:t>
            </a:r>
            <a:r>
              <a:rPr lang="en-US" sz="2400" dirty="0">
                <a:latin typeface="NimbusRomNo9L-Regu"/>
              </a:rPr>
              <a:t>be </a:t>
            </a:r>
            <a:r>
              <a:rPr lang="el-GR" sz="2400" dirty="0">
                <a:latin typeface="rtxmi"/>
              </a:rPr>
              <a:t>σ </a:t>
            </a:r>
            <a:r>
              <a:rPr lang="el-GR" sz="2400" dirty="0">
                <a:latin typeface="rtxr"/>
              </a:rPr>
              <a:t>= </a:t>
            </a:r>
            <a:r>
              <a:rPr lang="en-US" sz="2400" dirty="0">
                <a:latin typeface="NimbusRomNo9L-ReguItal"/>
              </a:rPr>
              <a:t>x</a:t>
            </a:r>
            <a:r>
              <a:rPr lang="en-US" sz="2400" dirty="0">
                <a:latin typeface="NimbusRomNo9L-Regu"/>
              </a:rPr>
              <a:t>1(</a:t>
            </a:r>
            <a:r>
              <a:rPr lang="en-US" sz="2400" dirty="0">
                <a:latin typeface="rtxr"/>
              </a:rPr>
              <a:t>= </a:t>
            </a:r>
            <a:r>
              <a:rPr lang="en-US" sz="2400" dirty="0">
                <a:latin typeface="NimbusRomNo9L-ReguItal"/>
              </a:rPr>
              <a:t>n</a:t>
            </a:r>
            <a:r>
              <a:rPr lang="en-US" sz="2400" dirty="0">
                <a:latin typeface="NimbusRomNo9L-Regu"/>
              </a:rPr>
              <a:t>)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NimbusRomNo9L-ReguItal"/>
              </a:rPr>
              <a:t>x</a:t>
            </a:r>
            <a:r>
              <a:rPr lang="en-US" sz="2400" dirty="0">
                <a:latin typeface="NimbusRomNo9L-Regu"/>
              </a:rPr>
              <a:t>2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txsy"/>
              </a:rPr>
              <a:t>・ ・ ・ 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 err="1">
                <a:latin typeface="NimbusRomNo9L-ReguItal"/>
              </a:rPr>
              <a:t>xm</a:t>
            </a:r>
            <a:r>
              <a:rPr lang="en-US" sz="2400" dirty="0">
                <a:latin typeface="NimbusRomNo9L-Regu"/>
              </a:rPr>
              <a:t>, where </a:t>
            </a:r>
            <a:r>
              <a:rPr lang="en-US" sz="2400" dirty="0">
                <a:latin typeface="NimbusRomNo9L-ReguItal"/>
              </a:rPr>
              <a:t>xi </a:t>
            </a:r>
            <a:r>
              <a:rPr lang="en-US" sz="2400" dirty="0">
                <a:latin typeface="NimbusRomNo9L-Regu"/>
              </a:rPr>
              <a:t>is the last element in the list at step </a:t>
            </a:r>
            <a:r>
              <a:rPr lang="en-US" sz="2400" dirty="0" smtClean="0">
                <a:latin typeface="NimbusRomNo9L-ReguItal"/>
              </a:rPr>
              <a:t>I </a:t>
            </a:r>
            <a:r>
              <a:rPr lang="en-US" sz="2400" dirty="0" smtClean="0">
                <a:latin typeface="NimbusRomNo9L-Regu"/>
              </a:rPr>
              <a:t>and </a:t>
            </a:r>
            <a:r>
              <a:rPr lang="en-US" sz="2400" dirty="0">
                <a:latin typeface="NimbusRomNo9L-Regu"/>
              </a:rPr>
              <a:t>the </a:t>
            </a:r>
            <a:r>
              <a:rPr lang="en-US" sz="2400" dirty="0" smtClean="0">
                <a:latin typeface="NimbusRomNo9L-Regu"/>
              </a:rPr>
              <a:t> algorithm </a:t>
            </a:r>
            <a:r>
              <a:rPr lang="en-US" sz="2400" dirty="0">
                <a:latin typeface="NimbusRomNo9L-Regu"/>
              </a:rPr>
              <a:t>executes </a:t>
            </a:r>
            <a:r>
              <a:rPr lang="en-US" sz="2400" dirty="0">
                <a:latin typeface="NimbusRomNo9L-ReguItal"/>
              </a:rPr>
              <a:t>m </a:t>
            </a:r>
            <a:r>
              <a:rPr lang="en-US" sz="2400" dirty="0">
                <a:latin typeface="NimbusRomNo9L-Regu"/>
              </a:rPr>
              <a:t>steps. Then the cost of the algorithm is </a:t>
            </a:r>
            <a:r>
              <a:rPr lang="en-US" sz="2400" dirty="0" err="1">
                <a:latin typeface="NimbusRomNo9L-ReguItal"/>
              </a:rPr>
              <a:t>mn</a:t>
            </a:r>
            <a:r>
              <a:rPr lang="en-US" sz="2400" dirty="0" smtClean="0">
                <a:latin typeface="NimbusRomNo9L-Regu"/>
              </a:rPr>
              <a:t>.</a:t>
            </a:r>
          </a:p>
          <a:p>
            <a:pPr>
              <a:lnSpc>
                <a:spcPct val="114000"/>
              </a:lnSpc>
            </a:pPr>
            <a:endParaRPr lang="en-US" sz="2400" dirty="0">
              <a:latin typeface="NimbusRomNo9L-Regu"/>
            </a:endParaRPr>
          </a:p>
          <a:p>
            <a:pPr>
              <a:lnSpc>
                <a:spcPct val="114000"/>
              </a:lnSpc>
            </a:pPr>
            <a:r>
              <a:rPr lang="en-US" sz="2400" dirty="0">
                <a:latin typeface="NimbusRomNo9L-Regu"/>
              </a:rPr>
              <a:t>We now consider an o</a:t>
            </a:r>
            <a:r>
              <a:rPr lang="en-US" sz="2400" dirty="0">
                <a:latin typeface="rtxr"/>
              </a:rPr>
              <a:t>ffl</a:t>
            </a:r>
            <a:r>
              <a:rPr lang="en-US" sz="2400" dirty="0">
                <a:latin typeface="NimbusRomNo9L-Regu"/>
              </a:rPr>
              <a:t>ine algorithm </a:t>
            </a:r>
            <a:r>
              <a:rPr lang="en-US" sz="2400" dirty="0">
                <a:latin typeface="NimbusRomNo9L-ReguItal"/>
              </a:rPr>
              <a:t>O </a:t>
            </a:r>
            <a:r>
              <a:rPr lang="en-US" sz="2400" dirty="0">
                <a:latin typeface="NimbusRomNo9L-Regu"/>
              </a:rPr>
              <a:t>which knows the sequence </a:t>
            </a:r>
            <a:r>
              <a:rPr lang="en-US" sz="2400" dirty="0">
                <a:latin typeface="rtxmi"/>
              </a:rPr>
              <a:t>σ </a:t>
            </a:r>
            <a:r>
              <a:rPr lang="en-US" sz="2400" dirty="0">
                <a:latin typeface="rtxr"/>
              </a:rPr>
              <a:t>= </a:t>
            </a:r>
            <a:r>
              <a:rPr lang="en-US" sz="2400" dirty="0">
                <a:latin typeface="NimbusRomNo9L-ReguItal"/>
              </a:rPr>
              <a:t>x</a:t>
            </a:r>
            <a:r>
              <a:rPr lang="en-US" sz="2400" dirty="0">
                <a:latin typeface="NimbusRomNo9L-Regu"/>
              </a:rPr>
              <a:t>1</a:t>
            </a:r>
            <a:r>
              <a:rPr lang="en-US" sz="2400" dirty="0" smtClean="0">
                <a:latin typeface="NimbusRomNo9L-Regu"/>
              </a:rPr>
              <a:t>(</a:t>
            </a:r>
            <a:r>
              <a:rPr lang="en-US" sz="2400" dirty="0" smtClean="0">
                <a:latin typeface="rtxr"/>
              </a:rPr>
              <a:t>=</a:t>
            </a:r>
            <a:r>
              <a:rPr lang="en-US" sz="2400" dirty="0" smtClean="0">
                <a:latin typeface="NimbusRomNo9L-ReguItal"/>
              </a:rPr>
              <a:t>n</a:t>
            </a:r>
            <a:r>
              <a:rPr lang="en-US" sz="2400" dirty="0">
                <a:latin typeface="NimbusRomNo9L-Regu"/>
              </a:rPr>
              <a:t>)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NimbusRomNo9L-ReguItal"/>
              </a:rPr>
              <a:t>x</a:t>
            </a:r>
            <a:r>
              <a:rPr lang="en-US" sz="2400" dirty="0">
                <a:latin typeface="NimbusRomNo9L-Regu"/>
              </a:rPr>
              <a:t>2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>
                <a:latin typeface="txsy"/>
              </a:rPr>
              <a:t>・ ・ ・ </a:t>
            </a:r>
            <a:r>
              <a:rPr lang="en-US" sz="2400" dirty="0">
                <a:latin typeface="rtxmi"/>
              </a:rPr>
              <a:t>, </a:t>
            </a:r>
            <a:r>
              <a:rPr lang="en-US" sz="2400" dirty="0" err="1">
                <a:latin typeface="NimbusRomNo9L-ReguItal"/>
              </a:rPr>
              <a:t>xm</a:t>
            </a:r>
            <a:r>
              <a:rPr lang="en-US" sz="2400" dirty="0">
                <a:latin typeface="NimbusRomNo9L-ReguItal"/>
              </a:rPr>
              <a:t> </a:t>
            </a:r>
            <a:r>
              <a:rPr lang="en-US" sz="2400" dirty="0">
                <a:latin typeface="NimbusRomNo9L-Regu"/>
              </a:rPr>
              <a:t>in advance. Although we do not know how does </a:t>
            </a:r>
            <a:r>
              <a:rPr lang="en-US" sz="2400" dirty="0">
                <a:latin typeface="NimbusRomNo9L-ReguItal"/>
              </a:rPr>
              <a:t>O </a:t>
            </a:r>
            <a:r>
              <a:rPr lang="en-US" sz="2400" dirty="0">
                <a:latin typeface="NimbusRomNo9L-Regu"/>
              </a:rPr>
              <a:t>work, we </a:t>
            </a:r>
            <a:r>
              <a:rPr lang="en-US" sz="2400" dirty="0" smtClean="0">
                <a:latin typeface="NimbusRomNo9L-Regu"/>
              </a:rPr>
              <a:t>can prove </a:t>
            </a:r>
            <a:r>
              <a:rPr lang="en-US" sz="2400" dirty="0">
                <a:latin typeface="NimbusRomNo9L-Regu"/>
              </a:rPr>
              <a:t>that for any input sequence </a:t>
            </a:r>
            <a:r>
              <a:rPr lang="en-US" sz="2400" dirty="0">
                <a:latin typeface="rtxmi"/>
              </a:rPr>
              <a:t>σ</a:t>
            </a:r>
            <a:r>
              <a:rPr lang="en-US" sz="2400" dirty="0">
                <a:latin typeface="NimbusRomNo9L-Regu"/>
              </a:rPr>
              <a:t>, there exists an algorithm </a:t>
            </a:r>
            <a:r>
              <a:rPr lang="en-US" sz="2400" dirty="0">
                <a:latin typeface="NimbusRomNo9L-ReguItal"/>
              </a:rPr>
              <a:t>O </a:t>
            </a:r>
            <a:r>
              <a:rPr lang="en-US" sz="2400" dirty="0">
                <a:latin typeface="NimbusRomNo9L-Regu"/>
              </a:rPr>
              <a:t>such that its cost </a:t>
            </a:r>
            <a:r>
              <a:rPr lang="en-US" sz="2400" dirty="0" smtClean="0">
                <a:latin typeface="NimbusRomNo9L-Regu"/>
              </a:rPr>
              <a:t>is at most m(n+1)/2</a:t>
            </a:r>
            <a:endParaRPr lang="en-US" sz="2400" dirty="0">
              <a:latin typeface="NimbusRomNo9L-Regu"/>
            </a:endParaRPr>
          </a:p>
          <a:p>
            <a:pPr>
              <a:lnSpc>
                <a:spcPct val="114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7774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132883"/>
                <a:ext cx="9108504" cy="64303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400" dirty="0" smtClean="0">
                    <a:latin typeface="NimbusRomNo9L-Regu"/>
                  </a:rPr>
                  <a:t>For </a:t>
                </a:r>
                <a:r>
                  <a:rPr lang="en-US" sz="2400" dirty="0">
                    <a:latin typeface="NimbusRomNo9L-Regu"/>
                  </a:rPr>
                  <a:t>a given </a:t>
                </a:r>
                <a:r>
                  <a:rPr lang="el-GR" sz="2400" dirty="0">
                    <a:latin typeface="rtxmi"/>
                  </a:rPr>
                  <a:t>σ</a:t>
                </a:r>
                <a:r>
                  <a:rPr lang="el-GR" sz="2400" dirty="0">
                    <a:latin typeface="NimbusRomNo9L-Regu"/>
                  </a:rPr>
                  <a:t>, </a:t>
                </a:r>
                <a:r>
                  <a:rPr lang="en-US" sz="2400" dirty="0">
                    <a:latin typeface="NimbusRomNo9L-ReguItal"/>
                  </a:rPr>
                  <a:t>O </a:t>
                </a:r>
                <a:r>
                  <a:rPr lang="en-US" sz="2400" dirty="0">
                    <a:latin typeface="NimbusRomNo9L-Regu"/>
                  </a:rPr>
                  <a:t>computes a “best” permutation </a:t>
                </a:r>
                <a:r>
                  <a:rPr lang="el-GR" sz="2400" dirty="0">
                    <a:latin typeface="rtxmi"/>
                  </a:rPr>
                  <a:t>Π </a:t>
                </a:r>
                <a:r>
                  <a:rPr lang="en-US" sz="2400" dirty="0">
                    <a:latin typeface="NimbusRomNo9L-Regu"/>
                  </a:rPr>
                  <a:t>of 1</a:t>
                </a:r>
                <a:r>
                  <a:rPr lang="en-US" sz="2400" dirty="0">
                    <a:latin typeface="rtxmi"/>
                  </a:rPr>
                  <a:t>, </a:t>
                </a:r>
                <a:r>
                  <a:rPr lang="en-US" sz="2400" dirty="0">
                    <a:latin typeface="NimbusRomNo9L-Regu"/>
                  </a:rPr>
                  <a:t>2</a:t>
                </a:r>
                <a:r>
                  <a:rPr lang="en-US" sz="2400" dirty="0">
                    <a:latin typeface="rtxmi"/>
                  </a:rPr>
                  <a:t>, </a:t>
                </a:r>
                <a:r>
                  <a:rPr lang="en-US" sz="2400" dirty="0">
                    <a:latin typeface="txsy"/>
                  </a:rPr>
                  <a:t>・ ・ ・ </a:t>
                </a:r>
                <a:r>
                  <a:rPr lang="en-US" sz="2400" dirty="0">
                    <a:latin typeface="rtxmi"/>
                  </a:rPr>
                  <a:t>, </a:t>
                </a:r>
                <a:r>
                  <a:rPr lang="en-US" sz="2400" dirty="0">
                    <a:latin typeface="NimbusRomNo9L-ReguItal"/>
                  </a:rPr>
                  <a:t>n </a:t>
                </a:r>
                <a:r>
                  <a:rPr lang="en-US" sz="2400" dirty="0">
                    <a:latin typeface="NimbusRomNo9L-Regu"/>
                  </a:rPr>
                  <a:t>and does </a:t>
                </a:r>
                <a:r>
                  <a:rPr lang="en-US" sz="2400" dirty="0" smtClean="0">
                    <a:latin typeface="NimbusRomNo9L-Regu"/>
                  </a:rPr>
                  <a:t>not change </a:t>
                </a:r>
                <a:r>
                  <a:rPr lang="en-US" sz="2400" dirty="0">
                    <a:latin typeface="NimbusRomNo9L-Regu"/>
                  </a:rPr>
                  <a:t>it at all. That means the cost of that permutation is the minimum among </a:t>
                </a:r>
                <a:r>
                  <a:rPr lang="en-US" sz="2400" dirty="0" smtClean="0">
                    <a:latin typeface="NimbusRomNo9L-Regu"/>
                  </a:rPr>
                  <a:t>all permutations </a:t>
                </a:r>
                <a:r>
                  <a:rPr lang="en-US" sz="2400" dirty="0">
                    <a:latin typeface="rtxmi"/>
                  </a:rPr>
                  <a:t>Π</a:t>
                </a:r>
                <a:r>
                  <a:rPr lang="en-US" sz="2400" dirty="0">
                    <a:latin typeface="NimbusRomNo9L-Regu"/>
                  </a:rPr>
                  <a:t>1</a:t>
                </a:r>
                <a:r>
                  <a:rPr lang="en-US" sz="2400" dirty="0">
                    <a:latin typeface="rtxmi"/>
                  </a:rPr>
                  <a:t>,Π</a:t>
                </a:r>
                <a:r>
                  <a:rPr lang="en-US" sz="2400" dirty="0">
                    <a:latin typeface="NimbusRomNo9L-Regu"/>
                  </a:rPr>
                  <a:t>2</a:t>
                </a:r>
                <a:r>
                  <a:rPr lang="en-US" sz="2400" dirty="0">
                    <a:latin typeface="rtxmi"/>
                  </a:rPr>
                  <a:t>, . . . ,</a:t>
                </a:r>
                <a:r>
                  <a:rPr lang="en-US" sz="2400" dirty="0" err="1">
                    <a:latin typeface="rtxmi"/>
                  </a:rPr>
                  <a:t>Π</a:t>
                </a:r>
                <a:r>
                  <a:rPr lang="en-US" sz="2400" dirty="0" err="1">
                    <a:latin typeface="NimbusRomNo9L-ReguItal"/>
                  </a:rPr>
                  <a:t>t</a:t>
                </a:r>
                <a:r>
                  <a:rPr lang="en-US" sz="2400" dirty="0">
                    <a:latin typeface="NimbusRomNo9L-ReguItal"/>
                  </a:rPr>
                  <a:t> </a:t>
                </a:r>
                <a:r>
                  <a:rPr lang="en-US" sz="2400" dirty="0">
                    <a:latin typeface="NimbusRomNo9L-Regu"/>
                  </a:rPr>
                  <a:t>(where </a:t>
                </a:r>
                <a:r>
                  <a:rPr lang="en-US" sz="2400" dirty="0">
                    <a:latin typeface="NimbusRomNo9L-ReguItal"/>
                  </a:rPr>
                  <a:t>t </a:t>
                </a:r>
                <a:r>
                  <a:rPr lang="en-US" sz="2400" dirty="0">
                    <a:latin typeface="rtxr"/>
                  </a:rPr>
                  <a:t>= </a:t>
                </a:r>
                <a:r>
                  <a:rPr lang="en-US" sz="2400" dirty="0">
                    <a:latin typeface="NimbusRomNo9L-ReguItal"/>
                  </a:rPr>
                  <a:t>n</a:t>
                </a:r>
                <a:r>
                  <a:rPr lang="en-US" sz="2400" dirty="0">
                    <a:latin typeface="NimbusRomNo9L-Regu"/>
                  </a:rPr>
                  <a:t>!) for the given input sequence </a:t>
                </a:r>
                <a:r>
                  <a:rPr lang="en-US" sz="2400" dirty="0">
                    <a:latin typeface="rtxmi"/>
                  </a:rPr>
                  <a:t>σ</a:t>
                </a:r>
                <a:r>
                  <a:rPr lang="en-US" sz="2400" dirty="0">
                    <a:latin typeface="NimbusRomNo9L-Regu"/>
                  </a:rPr>
                  <a:t>. Let </a:t>
                </a:r>
                <a:r>
                  <a:rPr lang="en-US" sz="2400" dirty="0">
                    <a:latin typeface="NimbusRomNo9L-ReguItal"/>
                  </a:rPr>
                  <a:t>Ci</a:t>
                </a:r>
                <a:r>
                  <a:rPr lang="en-US" sz="2400" dirty="0">
                    <a:latin typeface="rtxmi"/>
                  </a:rPr>
                  <a:t>, </a:t>
                </a:r>
                <a:r>
                  <a:rPr lang="en-US" sz="2400" dirty="0">
                    <a:latin typeface="NimbusRomNo9L-ReguItal"/>
                  </a:rPr>
                  <a:t>j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sz="2400" dirty="0">
                    <a:latin typeface="NimbusRomNo9L-Regu"/>
                  </a:rPr>
                  <a:t>be the cost of searching the </a:t>
                </a:r>
                <a:r>
                  <a:rPr lang="en-US" sz="2400" dirty="0">
                    <a:latin typeface="NimbusRomNo9L-ReguItal"/>
                  </a:rPr>
                  <a:t>j </a:t>
                </a:r>
                <a:r>
                  <a:rPr lang="en-US" sz="2400" dirty="0">
                    <a:latin typeface="NimbusRomNo9L-Regu"/>
                  </a:rPr>
                  <a:t>element of the sequence </a:t>
                </a:r>
                <a:r>
                  <a:rPr lang="en-US" sz="2400" dirty="0">
                    <a:latin typeface="rtxmi"/>
                  </a:rPr>
                  <a:t>σ </a:t>
                </a:r>
                <a:r>
                  <a:rPr lang="en-US" sz="2400" dirty="0">
                    <a:latin typeface="NimbusRomNo9L-Regu"/>
                  </a:rPr>
                  <a:t>in the permutation </a:t>
                </a:r>
                <a:r>
                  <a:rPr lang="en-US" sz="2400" dirty="0" err="1">
                    <a:latin typeface="rtxmi"/>
                  </a:rPr>
                  <a:t>Π</a:t>
                </a:r>
                <a:r>
                  <a:rPr lang="en-US" sz="2400" dirty="0" err="1">
                    <a:latin typeface="NimbusRomNo9L-ReguItal"/>
                  </a:rPr>
                  <a:t>i</a:t>
                </a:r>
                <a:r>
                  <a:rPr lang="en-US" sz="2400" dirty="0">
                    <a:latin typeface="NimbusRomNo9L-Regu"/>
                  </a:rPr>
                  <a:t>. Let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sz="2400" dirty="0">
                    <a:latin typeface="NimbusRomNo9L-Regu"/>
                  </a:rPr>
                  <a:t>the cost of the Algorithm </a:t>
                </a:r>
                <a:r>
                  <a:rPr lang="en-US" sz="2400" dirty="0">
                    <a:latin typeface="NimbusRomNo9L-ReguItal"/>
                  </a:rPr>
                  <a:t>O </a:t>
                </a:r>
                <a:r>
                  <a:rPr lang="en-US" sz="2400" dirty="0">
                    <a:latin typeface="NimbusRomNo9L-Regu"/>
                  </a:rPr>
                  <a:t>for permutation </a:t>
                </a:r>
                <a:r>
                  <a:rPr lang="en-US" sz="2400" dirty="0" err="1">
                    <a:latin typeface="rtxmi"/>
                  </a:rPr>
                  <a:t>Π</a:t>
                </a:r>
                <a:r>
                  <a:rPr lang="en-US" sz="2400" dirty="0" err="1">
                    <a:latin typeface="NimbusRomNo9L-ReguItal"/>
                  </a:rPr>
                  <a:t>i</a:t>
                </a:r>
                <a:r>
                  <a:rPr lang="en-US" sz="2400" dirty="0">
                    <a:latin typeface="NimbusRomNo9L-ReguItal"/>
                  </a:rPr>
                  <a:t> </a:t>
                </a:r>
                <a:r>
                  <a:rPr lang="en-US" sz="2400" dirty="0">
                    <a:latin typeface="NimbusRomNo9L-Regu"/>
                  </a:rPr>
                  <a:t>be </a:t>
                </a:r>
                <a:r>
                  <a:rPr lang="en-US" sz="2400" dirty="0">
                    <a:latin typeface="NimbusRomNo9L-ReguItal"/>
                  </a:rPr>
                  <a:t>O</a:t>
                </a:r>
                <a:r>
                  <a:rPr lang="en-US" sz="2400" dirty="0">
                    <a:latin typeface="NimbusRomNo9L-Regu"/>
                  </a:rPr>
                  <a:t>(</a:t>
                </a:r>
                <a:r>
                  <a:rPr lang="en-US" sz="2400" dirty="0" err="1">
                    <a:latin typeface="rtxmi"/>
                  </a:rPr>
                  <a:t>Π</a:t>
                </a:r>
                <a:r>
                  <a:rPr lang="en-US" sz="2400" dirty="0" err="1">
                    <a:latin typeface="NimbusRomNo9L-ReguItal"/>
                  </a:rPr>
                  <a:t>i</a:t>
                </a:r>
                <a:r>
                  <a:rPr lang="en-US" sz="2400" dirty="0">
                    <a:latin typeface="NimbusRomNo9L-Regu"/>
                  </a:rPr>
                  <a:t>). Then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sz="2400" dirty="0">
                    <a:latin typeface="NimbusRomNo9L-ReguItal"/>
                  </a:rPr>
                  <a:t>O</a:t>
                </a:r>
                <a:r>
                  <a:rPr lang="en-US" sz="2400" dirty="0">
                    <a:latin typeface="NimbusRomNo9L-Regu"/>
                  </a:rPr>
                  <a:t>(</a:t>
                </a:r>
                <a:r>
                  <a:rPr lang="el-GR" sz="2400" dirty="0">
                    <a:latin typeface="rtxmi"/>
                  </a:rPr>
                  <a:t>Π</a:t>
                </a:r>
                <a:r>
                  <a:rPr lang="en-US" sz="2400" dirty="0" err="1">
                    <a:latin typeface="NimbusRomNo9L-ReguItal"/>
                  </a:rPr>
                  <a:t>i</a:t>
                </a:r>
                <a:r>
                  <a:rPr lang="en-US" sz="2400" dirty="0">
                    <a:latin typeface="NimbusRomNo9L-Regu"/>
                  </a:rPr>
                  <a:t>) </a:t>
                </a:r>
                <a:r>
                  <a:rPr lang="en-US" sz="2400" dirty="0">
                    <a:latin typeface="rtxr"/>
                  </a:rPr>
                  <a:t>= </a:t>
                </a:r>
                <a:r>
                  <a:rPr lang="en-US" sz="2400" dirty="0">
                    <a:latin typeface="NimbusRomNo9L-ReguItal"/>
                  </a:rPr>
                  <a:t>Ci</a:t>
                </a:r>
                <a:r>
                  <a:rPr lang="en-US" sz="2400" dirty="0">
                    <a:latin typeface="rtxmi"/>
                  </a:rPr>
                  <a:t>,</a:t>
                </a:r>
                <a:r>
                  <a:rPr lang="en-US" sz="2400" dirty="0">
                    <a:latin typeface="NimbusRomNo9L-Regu"/>
                  </a:rPr>
                  <a:t>1 </a:t>
                </a:r>
                <a:r>
                  <a:rPr lang="en-US" sz="2400" dirty="0">
                    <a:latin typeface="rtxr"/>
                  </a:rPr>
                  <a:t>+ </a:t>
                </a:r>
                <a:r>
                  <a:rPr lang="en-US" sz="2400" dirty="0">
                    <a:latin typeface="NimbusRomNo9L-ReguItal"/>
                  </a:rPr>
                  <a:t>Ci</a:t>
                </a:r>
                <a:r>
                  <a:rPr lang="en-US" sz="2400" dirty="0">
                    <a:latin typeface="rtxmi"/>
                  </a:rPr>
                  <a:t>,</a:t>
                </a:r>
                <a:r>
                  <a:rPr lang="en-US" sz="2400" dirty="0">
                    <a:latin typeface="NimbusRomNo9L-Regu"/>
                  </a:rPr>
                  <a:t>2 </a:t>
                </a:r>
                <a:r>
                  <a:rPr lang="en-US" sz="2400" dirty="0">
                    <a:latin typeface="rtxr"/>
                  </a:rPr>
                  <a:t>+ </a:t>
                </a:r>
                <a:r>
                  <a:rPr lang="en-US" sz="2400" dirty="0">
                    <a:latin typeface="txsy"/>
                  </a:rPr>
                  <a:t>・ ・ ・ </a:t>
                </a:r>
                <a:r>
                  <a:rPr lang="en-US" sz="2400" dirty="0">
                    <a:latin typeface="rtxr"/>
                  </a:rPr>
                  <a:t>+ </a:t>
                </a:r>
                <a:r>
                  <a:rPr lang="en-US" sz="2400" dirty="0" err="1">
                    <a:latin typeface="NimbusRomNo9L-ReguItal"/>
                  </a:rPr>
                  <a:t>Ci</a:t>
                </a:r>
                <a:r>
                  <a:rPr lang="en-US" sz="2400" dirty="0" err="1">
                    <a:latin typeface="rtxmi"/>
                  </a:rPr>
                  <a:t>,</a:t>
                </a:r>
                <a:r>
                  <a:rPr lang="en-US" sz="2400" dirty="0" err="1">
                    <a:latin typeface="NimbusRomNo9L-ReguItal"/>
                  </a:rPr>
                  <a:t>m</a:t>
                </a:r>
                <a:endParaRPr lang="en-US" sz="2400" dirty="0">
                  <a:latin typeface="NimbusRomNo9L-ReguItal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pt-BR" sz="2400" dirty="0">
                    <a:latin typeface="NimbusRomNo9L-Regu"/>
                  </a:rPr>
                  <a:t>. Then </a:t>
                </a:r>
                <a:r>
                  <a:rPr lang="pt-BR" sz="2400" dirty="0">
                    <a:latin typeface="NimbusRomNo9L-ReguItal"/>
                  </a:rPr>
                  <a:t>min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"/>
                  </a:rPr>
                  <a:t>1)</a:t>
                </a:r>
                <a:r>
                  <a:rPr lang="pt-BR" sz="2400" dirty="0">
                    <a:latin typeface="rtxmi"/>
                  </a:rPr>
                  <a:t>,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"/>
                  </a:rPr>
                  <a:t>2)</a:t>
                </a:r>
                <a:r>
                  <a:rPr lang="pt-BR" sz="2400" dirty="0">
                    <a:latin typeface="rtxmi"/>
                  </a:rPr>
                  <a:t>, . . . ,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Ital"/>
                  </a:rPr>
                  <a:t>t</a:t>
                </a:r>
                <a:r>
                  <a:rPr lang="pt-BR" sz="2400" dirty="0">
                    <a:latin typeface="NimbusRomNo9L-Regu"/>
                  </a:rPr>
                  <a:t>)) </a:t>
                </a:r>
                <a:r>
                  <a:rPr lang="pt-BR" sz="2400" dirty="0">
                    <a:latin typeface="txsy"/>
                  </a:rPr>
                  <a:t>≤ </a:t>
                </a:r>
                <a:r>
                  <a:rPr lang="pt-BR" sz="2400" dirty="0">
                    <a:latin typeface="NimbusRomNo9L-ReguItal"/>
                  </a:rPr>
                  <a:t>average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"/>
                  </a:rPr>
                  <a:t>1)</a:t>
                </a:r>
                <a:r>
                  <a:rPr lang="pt-BR" sz="2400" dirty="0">
                    <a:latin typeface="rtxmi"/>
                  </a:rPr>
                  <a:t>,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"/>
                  </a:rPr>
                  <a:t>2)</a:t>
                </a:r>
                <a:r>
                  <a:rPr lang="pt-BR" sz="2400" dirty="0">
                    <a:latin typeface="rtxmi"/>
                  </a:rPr>
                  <a:t>, . . . ,</a:t>
                </a:r>
                <a:r>
                  <a:rPr lang="pt-BR" sz="2400" dirty="0">
                    <a:latin typeface="NimbusRomNo9L-ReguItal"/>
                  </a:rPr>
                  <a:t>O</a:t>
                </a:r>
                <a:r>
                  <a:rPr lang="pt-BR" sz="2400" dirty="0">
                    <a:latin typeface="NimbusRomNo9L-Regu"/>
                  </a:rPr>
                  <a:t>(</a:t>
                </a:r>
                <a:r>
                  <a:rPr lang="pt-BR" sz="2400" dirty="0">
                    <a:latin typeface="rtxmi"/>
                  </a:rPr>
                  <a:t>Π</a:t>
                </a:r>
                <a:r>
                  <a:rPr lang="pt-BR" sz="2400" dirty="0">
                    <a:latin typeface="NimbusRomNo9L-ReguItal"/>
                  </a:rPr>
                  <a:t>t</a:t>
                </a:r>
                <a:r>
                  <a:rPr lang="pt-BR" sz="2400" dirty="0">
                    <a:latin typeface="NimbusRomNo9L-Regu"/>
                  </a:rPr>
                  <a:t>))</a:t>
                </a:r>
                <a:r>
                  <a:rPr lang="pt-BR" sz="2400" dirty="0">
                    <a:latin typeface="rtxmi"/>
                  </a:rPr>
                  <a:t>. </a:t>
                </a:r>
                <a:r>
                  <a:rPr lang="pt-BR" sz="2400" dirty="0" smtClean="0">
                    <a:latin typeface="NimbusRomNo9L-Regu"/>
                  </a:rPr>
                  <a:t>Now</a:t>
                </a:r>
              </a:p>
              <a:p>
                <a:pPr>
                  <a:lnSpc>
                    <a:spcPct val="114000"/>
                  </a:lnSpc>
                </a:pPr>
                <a:r>
                  <a:rPr lang="pt-BR" sz="2400" dirty="0" smtClean="0">
                    <a:latin typeface="NimbusRomNo9L-Regu"/>
                  </a:rPr>
                  <a:t>Average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pt-BR" sz="2400" dirty="0" smtClean="0">
                    <a:latin typeface="NimbusRomNo9L-Regu"/>
                  </a:rPr>
                  <a:t>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pt-BR" sz="2400" dirty="0">
                            <a:latin typeface="NimbusRomNo9L-Regu"/>
                          </a:rPr>
                          <m:t>..., 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latin typeface="NimbusRomNo9L-Regu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sz="2400" b="0" dirty="0" smtClean="0">
                  <a:latin typeface="NimbusRomNo9L-Regu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pt-BR" sz="2400" dirty="0" smtClean="0">
                    <a:latin typeface="NimbusRomNo9L-Regu"/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2, 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400" dirty="0">
                  <a:latin typeface="NimbusRomNo9L-Regu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pt-BR" sz="2400" dirty="0" smtClean="0">
                    <a:latin typeface="NimbusRomNo9L-Regu"/>
                  </a:rPr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,2  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pt-BR" sz="2400" dirty="0">
                  <a:latin typeface="NimbusRomNo9L-Regu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883"/>
                <a:ext cx="9108504" cy="6430350"/>
              </a:xfrm>
              <a:prstGeom prst="rect">
                <a:avLst/>
              </a:prstGeom>
              <a:blipFill>
                <a:blip r:embed="rId2"/>
                <a:stretch>
                  <a:fillRect l="-1004" t="-853" r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19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132883"/>
                <a:ext cx="9108504" cy="4818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400" dirty="0" smtClean="0"/>
                  <a:t>Now we concentrate on the term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1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 smtClean="0"/>
                  <a:t>’ </a:t>
                </a:r>
                <a:r>
                  <a:rPr lang="en-US" sz="2400" dirty="0"/>
                  <a:t>This is the total cost of searching the </a:t>
                </a:r>
                <a:r>
                  <a:rPr lang="en-US" sz="2400" dirty="0" smtClean="0"/>
                  <a:t>first element </a:t>
                </a:r>
                <a:r>
                  <a:rPr lang="en-US" sz="2400" dirty="0"/>
                  <a:t>of σ in all permutations. The first element will appear (n − 1)! times in </a:t>
                </a:r>
                <a:r>
                  <a:rPr lang="en-US" sz="2400" dirty="0" smtClean="0"/>
                  <a:t>first position</a:t>
                </a:r>
                <a:r>
                  <a:rPr lang="en-US" sz="2400" dirty="0"/>
                  <a:t>, (n − 1)! times 2nd position, and so on. </a:t>
                </a:r>
                <a:r>
                  <a:rPr lang="en-US" sz="2400" dirty="0" smtClean="0"/>
                  <a:t>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 1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!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1+2+3+….+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!(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pPr>
                  <a:lnSpc>
                    <a:spcPct val="114000"/>
                  </a:lnSpc>
                </a:pPr>
                <a:r>
                  <a:rPr lang="pt-BR" sz="2400" dirty="0">
                    <a:latin typeface="NimbusRomNo9L-Regu"/>
                  </a:rPr>
                  <a:t>Average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pt-BR" sz="2400" dirty="0">
                    <a:latin typeface="NimbusRomNo9L-Regu"/>
                  </a:rPr>
                  <a:t>...,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1=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 1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,2  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+…+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nary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pPr>
                  <a:lnSpc>
                    <a:spcPct val="114000"/>
                  </a:lnSpc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sz="2400" b="0" dirty="0" smtClean="0"/>
              </a:p>
              <a:p>
                <a:pPr>
                  <a:lnSpc>
                    <a:spcPct val="114000"/>
                  </a:lnSpc>
                </a:pPr>
                <a:r>
                  <a:rPr lang="en-US" sz="2400" dirty="0" smtClean="0"/>
                  <a:t>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r>
                  <a:rPr lang="en-US" dirty="0"/>
                  <a:t>Thus we get min(O(</a:t>
                </a:r>
                <a:r>
                  <a:rPr lang="el-GR" dirty="0"/>
                  <a:t>Π1),</a:t>
                </a:r>
                <a:r>
                  <a:rPr lang="en-US" dirty="0"/>
                  <a:t>O(</a:t>
                </a:r>
                <a:r>
                  <a:rPr lang="el-GR" dirty="0"/>
                  <a:t>Π2), . . . ,</a:t>
                </a:r>
                <a:r>
                  <a:rPr lang="en-US" dirty="0"/>
                  <a:t>O(</a:t>
                </a:r>
                <a:r>
                  <a:rPr lang="el-GR" dirty="0"/>
                  <a:t>Π</a:t>
                </a:r>
                <a:r>
                  <a:rPr lang="en-US" dirty="0"/>
                  <a:t>t)) </a:t>
                </a:r>
                <a:r>
                  <a:rPr lang="en-US" dirty="0" smtClean="0"/>
                  <a:t>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 smtClean="0"/>
                  <a:t>2 </a:t>
                </a:r>
                <a:r>
                  <a:rPr lang="en-US" dirty="0"/>
                  <a:t>. Hence the </a:t>
                </a:r>
                <a:r>
                  <a:rPr lang="en-US" dirty="0" err="1"/>
                  <a:t>competetive</a:t>
                </a:r>
                <a:r>
                  <a:rPr lang="en-US" dirty="0"/>
                  <a:t> ratio</a:t>
                </a:r>
              </a:p>
              <a:p>
                <a:r>
                  <a:rPr lang="en-US" dirty="0" smtClean="0"/>
                  <a:t>Becomes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2883"/>
                <a:ext cx="9108504" cy="4818242"/>
              </a:xfrm>
              <a:prstGeom prst="rect">
                <a:avLst/>
              </a:prstGeom>
              <a:blipFill>
                <a:blip r:embed="rId2"/>
                <a:stretch>
                  <a:fillRect l="-1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875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1566</Words>
  <Application>Microsoft Office PowerPoint</Application>
  <PresentationFormat>On-screen Show (4:3)</PresentationFormat>
  <Paragraphs>140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Calibri</vt:lpstr>
      <vt:lpstr>Cambria Math</vt:lpstr>
      <vt:lpstr>NimbusRomNo9L-Medi</vt:lpstr>
      <vt:lpstr>NimbusRomNo9L-MediItal</vt:lpstr>
      <vt:lpstr>NimbusRomNo9L-Regu</vt:lpstr>
      <vt:lpstr>NimbusRomNo9L-ReguItal</vt:lpstr>
      <vt:lpstr>rtxmi</vt:lpstr>
      <vt:lpstr>rtxr</vt:lpstr>
      <vt:lpstr>Symbol</vt:lpstr>
      <vt:lpstr>Times New Roman (Hebrew)</vt:lpstr>
      <vt:lpstr>txsy</vt:lpstr>
      <vt:lpstr>Wingdings</vt:lpstr>
      <vt:lpstr>Office Theme</vt:lpstr>
      <vt:lpstr>Online Algorithm</vt:lpstr>
      <vt:lpstr>Online Algorithm</vt:lpstr>
      <vt:lpstr>PowerPoint Presentation</vt:lpstr>
      <vt:lpstr>PowerPoint Presentation</vt:lpstr>
      <vt:lpstr>Ski Rental Problem</vt:lpstr>
      <vt:lpstr>Algorithms</vt:lpstr>
      <vt:lpstr>Algorithm 1</vt:lpstr>
      <vt:lpstr>Algorithm 2</vt:lpstr>
      <vt:lpstr>Algorithm 3</vt:lpstr>
      <vt:lpstr>Problem Formulation</vt:lpstr>
      <vt:lpstr>PowerPoint Presentation</vt:lpstr>
      <vt:lpstr>Online strategy</vt:lpstr>
      <vt:lpstr>On line strategy</vt:lpstr>
      <vt:lpstr>On line strategy</vt:lpstr>
      <vt:lpstr>Linear List Search</vt:lpstr>
      <vt:lpstr>Linear List Search</vt:lpstr>
      <vt:lpstr>Algorithm 1</vt:lpstr>
      <vt:lpstr>Algorithm 1</vt:lpstr>
      <vt:lpstr>Algorithm 2</vt:lpstr>
      <vt:lpstr>Algorithm 2</vt:lpstr>
      <vt:lpstr>Algorithm 2</vt:lpstr>
      <vt:lpstr>Algorithm 2</vt:lpstr>
      <vt:lpstr>Algorithm 2</vt:lpstr>
      <vt:lpstr>Algorithm 2</vt:lpstr>
      <vt:lpstr>Algorithm 2</vt:lpstr>
      <vt:lpstr>No algorithm has CR better than 2</vt:lpstr>
      <vt:lpstr>Cost of optimal algorithm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Algorithm</dc:title>
  <dc:creator>ismail - [2010]</dc:creator>
  <cp:lastModifiedBy>HP</cp:lastModifiedBy>
  <cp:revision>36</cp:revision>
  <dcterms:created xsi:type="dcterms:W3CDTF">2019-11-10T13:26:17Z</dcterms:created>
  <dcterms:modified xsi:type="dcterms:W3CDTF">2026-07-14T16:18:22Z</dcterms:modified>
</cp:coreProperties>
</file>